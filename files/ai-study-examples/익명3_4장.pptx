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0" r:id="rId1"/>
    <p:sldMasterId id="2147483651" r:id="rId2"/>
  </p:sldMasterIdLst>
  <p:notesMasterIdLst>
    <p:notesMasterId r:id="rId14"/>
  </p:notesMasterIdLst>
  <p:handoutMasterIdLst>
    <p:handoutMasterId r:id="rId15"/>
  </p:handoutMasterIdLst>
  <p:sldIdLst>
    <p:sldId id="270" r:id="rId3"/>
    <p:sldId id="276" r:id="rId4"/>
    <p:sldId id="274" r:id="rId5"/>
    <p:sldId id="279" r:id="rId6"/>
    <p:sldId id="280" r:id="rId7"/>
    <p:sldId id="277" r:id="rId8"/>
    <p:sldId id="281" r:id="rId9"/>
    <p:sldId id="272" r:id="rId10"/>
    <p:sldId id="271" r:id="rId11"/>
    <p:sldId id="282" r:id="rId12"/>
    <p:sldId id="267" r:id="rId13"/>
  </p:sldIdLst>
  <p:sldSz cx="12192000" cy="6858000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E4A84"/>
    <a:srgbClr val="00008B"/>
    <a:srgbClr val="00356B"/>
    <a:srgbClr val="01386A"/>
    <a:srgbClr val="003153"/>
    <a:srgbClr val="002147"/>
    <a:srgbClr val="C4D8E2"/>
    <a:srgbClr val="B0E0E6"/>
    <a:srgbClr val="F0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108" y="120"/>
      </p:cViewPr>
      <p:guideLst>
        <p:guide orient="horz" pos="21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56" d="100"/>
          <a:sy n="56" d="100"/>
        </p:scale>
        <p:origin x="330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95B6E96-DB61-5E54-05C8-83DD85CCC8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79B6B3-EF80-9134-2182-3F966876DA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86E71-27EA-44DF-B25D-BBDC59264333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EF9244-1D3C-7F8C-EED7-C8557719CB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99425-555D-ABDD-CD15-3476C0605D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1B6C1-E14A-48EC-8939-FA5042B04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06895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3" userDrawn="1">
          <p15:clr>
            <a:srgbClr val="F26B43"/>
          </p15:clr>
        </p15:guide>
        <p15:guide id="2" pos="2237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DC23E55-27E6-6E32-DB00-ED90387F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>
            <a:extLst>
              <a:ext uri="{FF2B5EF4-FFF2-40B4-BE49-F238E27FC236}">
                <a16:creationId xmlns:a16="http://schemas.microsoft.com/office/drawing/2014/main" id="{41859D27-CD14-70C1-303E-CB8505FB73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dirty="0"/>
              <a:t>Alice Blue / #F0F8FF</a:t>
            </a:r>
          </a:p>
        </p:txBody>
      </p:sp>
      <p:sp>
        <p:nvSpPr>
          <p:cNvPr id="29" name="Google Shape;29;p1:notes">
            <a:extLst>
              <a:ext uri="{FF2B5EF4-FFF2-40B4-BE49-F238E27FC236}">
                <a16:creationId xmlns:a16="http://schemas.microsoft.com/office/drawing/2014/main" id="{EAFB3BE2-31C9-3391-DBD0-656EF2009A3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3823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E085516-7F81-154C-4C86-65F03520C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>
            <a:extLst>
              <a:ext uri="{FF2B5EF4-FFF2-40B4-BE49-F238E27FC236}">
                <a16:creationId xmlns:a16="http://schemas.microsoft.com/office/drawing/2014/main" id="{1AFA43D1-9F24-EA06-C2F4-D5623C3FD4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9" name="Google Shape;29;p1:notes">
            <a:extLst>
              <a:ext uri="{FF2B5EF4-FFF2-40B4-BE49-F238E27FC236}">
                <a16:creationId xmlns:a16="http://schemas.microsoft.com/office/drawing/2014/main" id="{EF19EBFE-BBEB-41A6-2EBC-1E8BCF7C565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3510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B4656-DBDA-43ED-F3C1-F48D45E64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D2A8BD-581A-601A-5355-2C61464D9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A2F455-1D1F-6FD8-10A3-D69DDB6E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B704-FBC0-497A-94D4-12A426FE2ACD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BAA541-3980-179D-A391-7694415E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12C9B4-7E51-3B67-6602-2BCB1C07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211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57">
            <a:extLst>
              <a:ext uri="{FF2B5EF4-FFF2-40B4-BE49-F238E27FC236}">
                <a16:creationId xmlns:a16="http://schemas.microsoft.com/office/drawing/2014/main" id="{EFAA37D9-96E7-0F6E-0BCD-FCBE4E0F080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50885" y="2238283"/>
            <a:ext cx="5328000" cy="4320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tIns="180000"/>
          <a:lstStyle>
            <a:lvl1pPr>
              <a:buFont typeface="Wingdings" panose="05000000000000000000" pitchFamily="2" charset="2"/>
              <a:buChar char="v"/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>
              <a:buFont typeface="Wingdings" panose="05000000000000000000" pitchFamily="2" charset="2"/>
              <a:buChar char="ü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Font typeface="Wingdings" panose="05000000000000000000" pitchFamily="2" charset="2"/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Font typeface="Wingdings" panose="05000000000000000000" pitchFamily="2" charset="2"/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</a:lstStyle>
          <a:p>
            <a:r>
              <a:rPr lang="ko-KR" altLang="en-US" dirty="0"/>
              <a:t>본문 </a:t>
            </a:r>
            <a:r>
              <a:rPr lang="en-US" altLang="ko-KR" dirty="0"/>
              <a:t>1/2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11" name="그림 개체 틀 57">
            <a:extLst>
              <a:ext uri="{FF2B5EF4-FFF2-40B4-BE49-F238E27FC236}">
                <a16:creationId xmlns:a16="http://schemas.microsoft.com/office/drawing/2014/main" id="{D2BE9590-D2C8-A417-4B70-4D83787F94E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61085" y="2238283"/>
            <a:ext cx="5328000" cy="4320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tIns="180000"/>
          <a:lstStyle>
            <a:lvl1pPr>
              <a:buFont typeface="Wingdings" panose="05000000000000000000" pitchFamily="2" charset="2"/>
              <a:buChar char="v"/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>
              <a:buFont typeface="Wingdings" panose="05000000000000000000" pitchFamily="2" charset="2"/>
              <a:buChar char="ü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Font typeface="Wingdings" panose="05000000000000000000" pitchFamily="2" charset="2"/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Font typeface="Wingdings" panose="05000000000000000000" pitchFamily="2" charset="2"/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</a:lstStyle>
          <a:p>
            <a:r>
              <a:rPr lang="ko-KR" altLang="en-US" dirty="0"/>
              <a:t>본문 </a:t>
            </a:r>
            <a:r>
              <a:rPr lang="en-US" altLang="ko-KR" dirty="0"/>
              <a:t>2/2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A70E6C1-850D-9548-C33C-19F9953B7EB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32575387"/>
              </p:ext>
            </p:extLst>
          </p:nvPr>
        </p:nvGraphicFramePr>
        <p:xfrm>
          <a:off x="0" y="770650"/>
          <a:ext cx="1034473" cy="6106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73">
                  <a:extLst>
                    <a:ext uri="{9D8B030D-6E8A-4147-A177-3AD203B41FA5}">
                      <a16:colId xmlns:a16="http://schemas.microsoft.com/office/drawing/2014/main" val="2252126409"/>
                    </a:ext>
                  </a:extLst>
                </a:gridCol>
              </a:tblGrid>
              <a:tr h="488708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39436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1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Introduction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674722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Method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879954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500" b="1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kern="1200" dirty="0" err="1">
                          <a:solidFill>
                            <a:schemeClr val="dk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Results</a:t>
                      </a:r>
                      <a:r>
                        <a:rPr lang="ko-KR" altLang="ko-KR" sz="1200" kern="1200" dirty="0">
                          <a:solidFill>
                            <a:schemeClr val="dk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&amp; </a:t>
                      </a:r>
                      <a:r>
                        <a:rPr lang="ko-KR" altLang="ko-KR" sz="1200" kern="1200" dirty="0" err="1">
                          <a:solidFill>
                            <a:schemeClr val="dk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Discussion</a:t>
                      </a:r>
                      <a:endParaRPr lang="ko-KR" altLang="ko-KR" sz="1200" kern="1200" dirty="0">
                        <a:solidFill>
                          <a:schemeClr val="dk1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048418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4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Conclusion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49664"/>
                  </a:ext>
                </a:extLst>
              </a:tr>
              <a:tr h="514065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838017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391EA-EA48-5476-8678-171B6F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8283"/>
            <a:ext cx="2743200" cy="274024"/>
          </a:xfrm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5498B3C2-55AA-4B0C-BFD3-207B0CEC05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0A1BD7-DD02-7C3F-F321-FCAC98BB2260}"/>
              </a:ext>
            </a:extLst>
          </p:cNvPr>
          <p:cNvSpPr/>
          <p:nvPr userDrawn="1"/>
        </p:nvSpPr>
        <p:spPr>
          <a:xfrm>
            <a:off x="0" y="698648"/>
            <a:ext cx="12192000" cy="72000"/>
          </a:xfrm>
          <a:prstGeom prst="rect">
            <a:avLst/>
          </a:prstGeom>
          <a:solidFill>
            <a:srgbClr val="0E4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텍스트 개체 틀 47">
            <a:extLst>
              <a:ext uri="{FF2B5EF4-FFF2-40B4-BE49-F238E27FC236}">
                <a16:creationId xmlns:a16="http://schemas.microsoft.com/office/drawing/2014/main" id="{F7F58D9A-5782-CF00-9C0F-8847738EFE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91673" y="2125543"/>
            <a:ext cx="925253" cy="320088"/>
          </a:xfr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본문 </a:t>
            </a:r>
            <a:r>
              <a:rPr lang="en-US" altLang="ko-KR" dirty="0"/>
              <a:t>1/2</a:t>
            </a:r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14CCD88-0831-D090-F42C-3C781231B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8952" y="9516"/>
            <a:ext cx="8849360" cy="720000"/>
          </a:xfrm>
        </p:spPr>
        <p:txBody>
          <a:bodyPr anchor="b" anchorCtr="0"/>
          <a:lstStyle>
            <a:lvl1pPr>
              <a:defRPr sz="3200">
                <a:solidFill>
                  <a:srgbClr val="0E4A8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21" name="텍스트 개체 틀 47">
            <a:extLst>
              <a:ext uri="{FF2B5EF4-FFF2-40B4-BE49-F238E27FC236}">
                <a16:creationId xmlns:a16="http://schemas.microsoft.com/office/drawing/2014/main" id="{D479D636-4697-BB87-FF28-84037D116B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01873" y="2125543"/>
            <a:ext cx="925253" cy="320088"/>
          </a:xfr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본문 </a:t>
            </a:r>
            <a:r>
              <a:rPr lang="en-US" altLang="ko-KR" dirty="0"/>
              <a:t>2/2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3D8D05F-829B-B4A7-1FDD-49AB8AF0E4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987" y="189517"/>
            <a:ext cx="2102098" cy="360000"/>
          </a:xfrm>
          <a:prstGeom prst="rect">
            <a:avLst/>
          </a:prstGeom>
        </p:spPr>
      </p:pic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6929B78-7C29-8CB3-5D14-1BE25A2718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8952" y="917019"/>
            <a:ext cx="10930133" cy="352425"/>
          </a:xfrm>
        </p:spPr>
        <p:txBody>
          <a:bodyPr/>
          <a:lstStyle>
            <a:lvl1pPr>
              <a:buClr>
                <a:srgbClr val="0E4A84"/>
              </a:buClr>
              <a:buFont typeface="Segoe UI Symbol" panose="020B0502040204020203" pitchFamily="34" charset="0"/>
              <a:buChar char="▍"/>
              <a:defRPr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소제목</a:t>
            </a:r>
            <a:endParaRPr lang="ko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7D7751D0-3BF9-902D-4633-483AA99A680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058953" y="1307526"/>
            <a:ext cx="10930220" cy="818017"/>
          </a:xfrm>
        </p:spPr>
        <p:txBody>
          <a:bodyPr lIns="180000">
            <a:noAutofit/>
          </a:bodyPr>
          <a:lstStyle>
            <a:lvl1pPr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797CA762-924D-EB29-5234-68A23534AD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3630" y="6655490"/>
            <a:ext cx="925253" cy="229938"/>
          </a:xfrm>
        </p:spPr>
        <p:txBody>
          <a:bodyPr/>
          <a:lstStyle>
            <a:lvl1pPr marL="108000">
              <a:lnSpc>
                <a:spcPct val="0"/>
              </a:lnSpc>
              <a:buFont typeface="+mj-lt"/>
              <a:buNone/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ko-KR" dirty="0"/>
              <a:t>[1] ref1</a:t>
            </a:r>
          </a:p>
          <a:p>
            <a:pPr lvl="0"/>
            <a:r>
              <a:rPr lang="en-US" altLang="ko-KR" dirty="0"/>
              <a:t>[2] ref2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956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57">
            <a:extLst>
              <a:ext uri="{FF2B5EF4-FFF2-40B4-BE49-F238E27FC236}">
                <a16:creationId xmlns:a16="http://schemas.microsoft.com/office/drawing/2014/main" id="{0D410A70-782A-1DE8-D6C3-1ABBF409412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50885" y="2238283"/>
            <a:ext cx="5328000" cy="4320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tIns="180000"/>
          <a:lstStyle>
            <a:lvl1pPr>
              <a:buFont typeface="Wingdings" panose="05000000000000000000" pitchFamily="2" charset="2"/>
              <a:buChar char="v"/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>
              <a:buFont typeface="Wingdings" panose="05000000000000000000" pitchFamily="2" charset="2"/>
              <a:buChar char="ü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Font typeface="Wingdings" panose="05000000000000000000" pitchFamily="2" charset="2"/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Font typeface="Wingdings" panose="05000000000000000000" pitchFamily="2" charset="2"/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</a:lstStyle>
          <a:p>
            <a:r>
              <a:rPr lang="ko-KR" altLang="en-US" dirty="0"/>
              <a:t>본문 </a:t>
            </a:r>
            <a:r>
              <a:rPr lang="en-US" altLang="ko-KR" dirty="0"/>
              <a:t>1/2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그림 개체 틀 57">
            <a:extLst>
              <a:ext uri="{FF2B5EF4-FFF2-40B4-BE49-F238E27FC236}">
                <a16:creationId xmlns:a16="http://schemas.microsoft.com/office/drawing/2014/main" id="{64B28227-1EFF-DC79-3443-DE528276A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61085" y="2238283"/>
            <a:ext cx="5328000" cy="4320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tIns="180000"/>
          <a:lstStyle>
            <a:lvl1pPr>
              <a:buFont typeface="Wingdings" panose="05000000000000000000" pitchFamily="2" charset="2"/>
              <a:buChar char="v"/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>
              <a:buFont typeface="Wingdings" panose="05000000000000000000" pitchFamily="2" charset="2"/>
              <a:buChar char="ü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Font typeface="Wingdings" panose="05000000000000000000" pitchFamily="2" charset="2"/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Font typeface="Wingdings" panose="05000000000000000000" pitchFamily="2" charset="2"/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</a:lstStyle>
          <a:p>
            <a:r>
              <a:rPr lang="ko-KR" altLang="en-US" dirty="0"/>
              <a:t>본문 </a:t>
            </a:r>
            <a:r>
              <a:rPr lang="en-US" altLang="ko-KR" dirty="0"/>
              <a:t>2/2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A70E6C1-850D-9548-C33C-19F9953B7EB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9162724"/>
              </p:ext>
            </p:extLst>
          </p:nvPr>
        </p:nvGraphicFramePr>
        <p:xfrm>
          <a:off x="0" y="770650"/>
          <a:ext cx="1034473" cy="6106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73">
                  <a:extLst>
                    <a:ext uri="{9D8B030D-6E8A-4147-A177-3AD203B41FA5}">
                      <a16:colId xmlns:a16="http://schemas.microsoft.com/office/drawing/2014/main" val="2252126409"/>
                    </a:ext>
                  </a:extLst>
                </a:gridCol>
              </a:tblGrid>
              <a:tr h="488708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39436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1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Introduction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674722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Method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879954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500" b="1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kern="1200" dirty="0" err="1">
                          <a:solidFill>
                            <a:sysClr val="windowText" lastClr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Results</a:t>
                      </a:r>
                      <a:r>
                        <a:rPr lang="ko-KR" altLang="ko-KR" sz="1200" kern="1200" dirty="0">
                          <a:solidFill>
                            <a:sysClr val="windowText" lastClr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&amp; </a:t>
                      </a:r>
                      <a:r>
                        <a:rPr lang="ko-KR" altLang="ko-KR" sz="1200" kern="1200" dirty="0" err="1">
                          <a:solidFill>
                            <a:sysClr val="windowText" lastClr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Discussion</a:t>
                      </a:r>
                      <a:endParaRPr lang="ko-KR" altLang="ko-KR" sz="1200" kern="1200" dirty="0">
                        <a:solidFill>
                          <a:sysClr val="windowText" lastClr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048418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4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Conclusion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49664"/>
                  </a:ext>
                </a:extLst>
              </a:tr>
              <a:tr h="514065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838017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391EA-EA48-5476-8678-171B6F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8283"/>
            <a:ext cx="2743200" cy="274024"/>
          </a:xfrm>
        </p:spPr>
        <p:txBody>
          <a:bodyPr/>
          <a:lstStyle>
            <a:lvl1pPr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5498B3C2-55AA-4B0C-BFD3-207B0CEC0597}" type="slidenum">
              <a:rPr lang="ko-KR" altLang="en-US" smtClean="0"/>
              <a:pPr/>
              <a:t>‹#›</a:t>
            </a:fld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0A1BD7-DD02-7C3F-F321-FCAC98BB2260}"/>
              </a:ext>
            </a:extLst>
          </p:cNvPr>
          <p:cNvSpPr/>
          <p:nvPr userDrawn="1"/>
        </p:nvSpPr>
        <p:spPr>
          <a:xfrm>
            <a:off x="0" y="698648"/>
            <a:ext cx="12192000" cy="72000"/>
          </a:xfrm>
          <a:prstGeom prst="rect">
            <a:avLst/>
          </a:prstGeom>
          <a:solidFill>
            <a:srgbClr val="0E4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텍스트 개체 틀 47">
            <a:extLst>
              <a:ext uri="{FF2B5EF4-FFF2-40B4-BE49-F238E27FC236}">
                <a16:creationId xmlns:a16="http://schemas.microsoft.com/office/drawing/2014/main" id="{F7F58D9A-5782-CF00-9C0F-8847738EFE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91673" y="2125543"/>
            <a:ext cx="925253" cy="320088"/>
          </a:xfr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본문 </a:t>
            </a:r>
            <a:r>
              <a:rPr lang="en-US" altLang="ko-KR" dirty="0"/>
              <a:t>1/2</a:t>
            </a:r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14CCD88-0831-D090-F42C-3C781231B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8952" y="9516"/>
            <a:ext cx="8849360" cy="720000"/>
          </a:xfrm>
        </p:spPr>
        <p:txBody>
          <a:bodyPr anchor="b" anchorCtr="0"/>
          <a:lstStyle>
            <a:lvl1pPr>
              <a:defRPr sz="3200">
                <a:solidFill>
                  <a:srgbClr val="0E4A8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21" name="텍스트 개체 틀 47">
            <a:extLst>
              <a:ext uri="{FF2B5EF4-FFF2-40B4-BE49-F238E27FC236}">
                <a16:creationId xmlns:a16="http://schemas.microsoft.com/office/drawing/2014/main" id="{D479D636-4697-BB87-FF28-84037D116B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01873" y="2125543"/>
            <a:ext cx="925253" cy="320088"/>
          </a:xfr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본문 </a:t>
            </a:r>
            <a:r>
              <a:rPr lang="en-US" altLang="ko-KR" dirty="0"/>
              <a:t>2/2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3D8D05F-829B-B4A7-1FDD-49AB8AF0E4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987" y="189517"/>
            <a:ext cx="2102098" cy="360000"/>
          </a:xfrm>
          <a:prstGeom prst="rect">
            <a:avLst/>
          </a:prstGeom>
        </p:spPr>
      </p:pic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6929B78-7C29-8CB3-5D14-1BE25A2718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8952" y="917019"/>
            <a:ext cx="10930133" cy="352425"/>
          </a:xfrm>
        </p:spPr>
        <p:txBody>
          <a:bodyPr/>
          <a:lstStyle>
            <a:lvl1pPr>
              <a:buClr>
                <a:srgbClr val="0E4A84"/>
              </a:buClr>
              <a:buFont typeface="Segoe UI Symbol" panose="020B0502040204020203" pitchFamily="34" charset="0"/>
              <a:buChar char="▍"/>
              <a:defRPr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소제목</a:t>
            </a:r>
            <a:endParaRPr lang="ko-KR" altLang="en-US" dirty="0"/>
          </a:p>
        </p:txBody>
      </p:sp>
      <p:sp>
        <p:nvSpPr>
          <p:cNvPr id="3" name="내용 개체 틀 17">
            <a:extLst>
              <a:ext uri="{FF2B5EF4-FFF2-40B4-BE49-F238E27FC236}">
                <a16:creationId xmlns:a16="http://schemas.microsoft.com/office/drawing/2014/main" id="{80A8D51B-84D3-614A-4B1B-C5C62BEFDE3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058953" y="1307526"/>
            <a:ext cx="10930220" cy="818017"/>
          </a:xfrm>
        </p:spPr>
        <p:txBody>
          <a:bodyPr lIns="180000">
            <a:noAutofit/>
          </a:bodyPr>
          <a:lstStyle>
            <a:lvl1pPr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4" name="텍스트 개체 틀 11">
            <a:extLst>
              <a:ext uri="{FF2B5EF4-FFF2-40B4-BE49-F238E27FC236}">
                <a16:creationId xmlns:a16="http://schemas.microsoft.com/office/drawing/2014/main" id="{A235C0CD-9B07-5358-95F7-3DA5E74586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3630" y="6655490"/>
            <a:ext cx="925253" cy="229938"/>
          </a:xfrm>
        </p:spPr>
        <p:txBody>
          <a:bodyPr/>
          <a:lstStyle>
            <a:lvl1pPr marL="108000">
              <a:lnSpc>
                <a:spcPct val="0"/>
              </a:lnSpc>
              <a:buFont typeface="+mj-lt"/>
              <a:buNone/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ko-KR" dirty="0"/>
              <a:t>[1] ref1</a:t>
            </a:r>
          </a:p>
          <a:p>
            <a:pPr lvl="0"/>
            <a:r>
              <a:rPr lang="en-US" altLang="ko-KR" dirty="0"/>
              <a:t>[2] ref2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0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57">
            <a:extLst>
              <a:ext uri="{FF2B5EF4-FFF2-40B4-BE49-F238E27FC236}">
                <a16:creationId xmlns:a16="http://schemas.microsoft.com/office/drawing/2014/main" id="{7C86D6CA-065F-1048-CBA9-71BBB04775E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50885" y="2238283"/>
            <a:ext cx="5328000" cy="4320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tIns="180000"/>
          <a:lstStyle>
            <a:lvl1pPr>
              <a:buFont typeface="Wingdings" panose="05000000000000000000" pitchFamily="2" charset="2"/>
              <a:buChar char="v"/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>
              <a:buFont typeface="Wingdings" panose="05000000000000000000" pitchFamily="2" charset="2"/>
              <a:buChar char="ü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Font typeface="Wingdings" panose="05000000000000000000" pitchFamily="2" charset="2"/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Font typeface="Wingdings" panose="05000000000000000000" pitchFamily="2" charset="2"/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</a:lstStyle>
          <a:p>
            <a:r>
              <a:rPr lang="ko-KR" altLang="en-US" dirty="0"/>
              <a:t>본문 </a:t>
            </a:r>
            <a:r>
              <a:rPr lang="en-US" altLang="ko-KR" dirty="0"/>
              <a:t>1/2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그림 개체 틀 57">
            <a:extLst>
              <a:ext uri="{FF2B5EF4-FFF2-40B4-BE49-F238E27FC236}">
                <a16:creationId xmlns:a16="http://schemas.microsoft.com/office/drawing/2014/main" id="{2A3EF8E4-4751-1C88-C7ED-889D14F5260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61085" y="2238283"/>
            <a:ext cx="5328000" cy="4320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tIns="180000"/>
          <a:lstStyle>
            <a:lvl1pPr>
              <a:buFont typeface="Wingdings" panose="05000000000000000000" pitchFamily="2" charset="2"/>
              <a:buChar char="v"/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>
              <a:buFont typeface="Wingdings" panose="05000000000000000000" pitchFamily="2" charset="2"/>
              <a:buChar char="ü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Font typeface="Wingdings" panose="05000000000000000000" pitchFamily="2" charset="2"/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Font typeface="Wingdings" panose="05000000000000000000" pitchFamily="2" charset="2"/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</a:lstStyle>
          <a:p>
            <a:r>
              <a:rPr lang="ko-KR" altLang="en-US" dirty="0"/>
              <a:t>본문 </a:t>
            </a:r>
            <a:r>
              <a:rPr lang="en-US" altLang="ko-KR" dirty="0"/>
              <a:t>2/2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A70E6C1-850D-9548-C33C-19F9953B7EB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02068965"/>
              </p:ext>
            </p:extLst>
          </p:nvPr>
        </p:nvGraphicFramePr>
        <p:xfrm>
          <a:off x="0" y="770650"/>
          <a:ext cx="1034473" cy="6106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73">
                  <a:extLst>
                    <a:ext uri="{9D8B030D-6E8A-4147-A177-3AD203B41FA5}">
                      <a16:colId xmlns:a16="http://schemas.microsoft.com/office/drawing/2014/main" val="2252126409"/>
                    </a:ext>
                  </a:extLst>
                </a:gridCol>
              </a:tblGrid>
              <a:tr h="488708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39436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1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Introduction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674722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Method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879954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kern="1200" dirty="0" err="1">
                          <a:solidFill>
                            <a:schemeClr val="bg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Results</a:t>
                      </a:r>
                      <a:r>
                        <a:rPr lang="ko-KR" altLang="ko-KR" sz="1200" kern="1200" dirty="0">
                          <a:solidFill>
                            <a:schemeClr val="bg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&amp; </a:t>
                      </a:r>
                      <a:r>
                        <a:rPr lang="ko-KR" altLang="ko-KR" sz="1200" kern="1200" dirty="0" err="1">
                          <a:solidFill>
                            <a:schemeClr val="bg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Discussion</a:t>
                      </a:r>
                      <a:endParaRPr lang="ko-KR" altLang="ko-KR" sz="1200" kern="1200" dirty="0">
                        <a:solidFill>
                          <a:schemeClr val="bg1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048418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4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Conclusion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49664"/>
                  </a:ext>
                </a:extLst>
              </a:tr>
              <a:tr h="514065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838017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391EA-EA48-5476-8678-171B6F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8283"/>
            <a:ext cx="2743200" cy="274024"/>
          </a:xfrm>
        </p:spPr>
        <p:txBody>
          <a:bodyPr/>
          <a:lstStyle>
            <a:lvl1pPr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5498B3C2-55AA-4B0C-BFD3-207B0CEC0597}" type="slidenum">
              <a:rPr lang="ko-KR" altLang="en-US" smtClean="0"/>
              <a:pPr/>
              <a:t>‹#›</a:t>
            </a:fld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0A1BD7-DD02-7C3F-F321-FCAC98BB2260}"/>
              </a:ext>
            </a:extLst>
          </p:cNvPr>
          <p:cNvSpPr/>
          <p:nvPr userDrawn="1"/>
        </p:nvSpPr>
        <p:spPr>
          <a:xfrm>
            <a:off x="0" y="698648"/>
            <a:ext cx="12192000" cy="72000"/>
          </a:xfrm>
          <a:prstGeom prst="rect">
            <a:avLst/>
          </a:prstGeom>
          <a:solidFill>
            <a:srgbClr val="0E4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텍스트 개체 틀 47">
            <a:extLst>
              <a:ext uri="{FF2B5EF4-FFF2-40B4-BE49-F238E27FC236}">
                <a16:creationId xmlns:a16="http://schemas.microsoft.com/office/drawing/2014/main" id="{F7F58D9A-5782-CF00-9C0F-8847738EFE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91673" y="2125543"/>
            <a:ext cx="925253" cy="320088"/>
          </a:xfr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본문 </a:t>
            </a:r>
            <a:r>
              <a:rPr lang="en-US" altLang="ko-KR" dirty="0"/>
              <a:t>1/2</a:t>
            </a:r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14CCD88-0831-D090-F42C-3C781231B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8952" y="9516"/>
            <a:ext cx="8849360" cy="720000"/>
          </a:xfrm>
        </p:spPr>
        <p:txBody>
          <a:bodyPr anchor="b" anchorCtr="0"/>
          <a:lstStyle>
            <a:lvl1pPr>
              <a:defRPr sz="3200">
                <a:solidFill>
                  <a:srgbClr val="0E4A8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21" name="텍스트 개체 틀 47">
            <a:extLst>
              <a:ext uri="{FF2B5EF4-FFF2-40B4-BE49-F238E27FC236}">
                <a16:creationId xmlns:a16="http://schemas.microsoft.com/office/drawing/2014/main" id="{D479D636-4697-BB87-FF28-84037D116B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01873" y="2125543"/>
            <a:ext cx="925253" cy="320088"/>
          </a:xfr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본문 </a:t>
            </a:r>
            <a:r>
              <a:rPr lang="en-US" altLang="ko-KR" dirty="0"/>
              <a:t>2/2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3D8D05F-829B-B4A7-1FDD-49AB8AF0E4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987" y="189517"/>
            <a:ext cx="2102098" cy="360000"/>
          </a:xfrm>
          <a:prstGeom prst="rect">
            <a:avLst/>
          </a:prstGeom>
        </p:spPr>
      </p:pic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6929B78-7C29-8CB3-5D14-1BE25A2718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8952" y="917019"/>
            <a:ext cx="10930133" cy="352425"/>
          </a:xfrm>
        </p:spPr>
        <p:txBody>
          <a:bodyPr/>
          <a:lstStyle>
            <a:lvl1pPr>
              <a:buClr>
                <a:srgbClr val="0E4A84"/>
              </a:buClr>
              <a:buFont typeface="Segoe UI Symbol" panose="020B0502040204020203" pitchFamily="34" charset="0"/>
              <a:buChar char="▍"/>
              <a:defRPr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소제목</a:t>
            </a:r>
            <a:endParaRPr lang="ko-KR" altLang="en-US" dirty="0"/>
          </a:p>
        </p:txBody>
      </p:sp>
      <p:sp>
        <p:nvSpPr>
          <p:cNvPr id="3" name="내용 개체 틀 17">
            <a:extLst>
              <a:ext uri="{FF2B5EF4-FFF2-40B4-BE49-F238E27FC236}">
                <a16:creationId xmlns:a16="http://schemas.microsoft.com/office/drawing/2014/main" id="{498A8137-F40A-495D-C1AA-A09E45C4D87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058953" y="1307526"/>
            <a:ext cx="10930220" cy="818017"/>
          </a:xfrm>
        </p:spPr>
        <p:txBody>
          <a:bodyPr lIns="180000">
            <a:noAutofit/>
          </a:bodyPr>
          <a:lstStyle>
            <a:lvl1pPr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4" name="텍스트 개체 틀 11">
            <a:extLst>
              <a:ext uri="{FF2B5EF4-FFF2-40B4-BE49-F238E27FC236}">
                <a16:creationId xmlns:a16="http://schemas.microsoft.com/office/drawing/2014/main" id="{BB4668A8-1311-6520-450B-7514F204B3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3630" y="6655490"/>
            <a:ext cx="925253" cy="229938"/>
          </a:xfrm>
        </p:spPr>
        <p:txBody>
          <a:bodyPr/>
          <a:lstStyle>
            <a:lvl1pPr marL="108000">
              <a:lnSpc>
                <a:spcPct val="0"/>
              </a:lnSpc>
              <a:buFont typeface="+mj-lt"/>
              <a:buNone/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ko-KR" dirty="0"/>
              <a:t>[1] ref1</a:t>
            </a:r>
          </a:p>
          <a:p>
            <a:pPr lvl="0"/>
            <a:r>
              <a:rPr lang="en-US" altLang="ko-KR" dirty="0"/>
              <a:t>[2] ref2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8280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57">
            <a:extLst>
              <a:ext uri="{FF2B5EF4-FFF2-40B4-BE49-F238E27FC236}">
                <a16:creationId xmlns:a16="http://schemas.microsoft.com/office/drawing/2014/main" id="{7C86D6CA-065F-1048-CBA9-71BBB04775E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50885" y="2238283"/>
            <a:ext cx="5328000" cy="4320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tIns="180000"/>
          <a:lstStyle>
            <a:lvl1pPr>
              <a:buFont typeface="Wingdings" panose="05000000000000000000" pitchFamily="2" charset="2"/>
              <a:buChar char="v"/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>
              <a:buFont typeface="Wingdings" panose="05000000000000000000" pitchFamily="2" charset="2"/>
              <a:buChar char="ü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Font typeface="Wingdings" panose="05000000000000000000" pitchFamily="2" charset="2"/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Font typeface="Wingdings" panose="05000000000000000000" pitchFamily="2" charset="2"/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</a:lstStyle>
          <a:p>
            <a:r>
              <a:rPr lang="ko-KR" altLang="en-US" dirty="0"/>
              <a:t>본문 </a:t>
            </a:r>
            <a:r>
              <a:rPr lang="en-US" altLang="ko-KR" dirty="0"/>
              <a:t>1/2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그림 개체 틀 57">
            <a:extLst>
              <a:ext uri="{FF2B5EF4-FFF2-40B4-BE49-F238E27FC236}">
                <a16:creationId xmlns:a16="http://schemas.microsoft.com/office/drawing/2014/main" id="{2A3EF8E4-4751-1C88-C7ED-889D14F5260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61085" y="2238283"/>
            <a:ext cx="5328000" cy="4320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tIns="180000"/>
          <a:lstStyle>
            <a:lvl1pPr>
              <a:buFont typeface="Wingdings" panose="05000000000000000000" pitchFamily="2" charset="2"/>
              <a:buChar char="v"/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>
              <a:buFont typeface="Wingdings" panose="05000000000000000000" pitchFamily="2" charset="2"/>
              <a:buChar char="ü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Font typeface="Wingdings" panose="05000000000000000000" pitchFamily="2" charset="2"/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Font typeface="Wingdings" panose="05000000000000000000" pitchFamily="2" charset="2"/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</a:lstStyle>
          <a:p>
            <a:r>
              <a:rPr lang="ko-KR" altLang="en-US" dirty="0"/>
              <a:t>본문 </a:t>
            </a:r>
            <a:r>
              <a:rPr lang="en-US" altLang="ko-KR" dirty="0"/>
              <a:t>2/2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A70E6C1-850D-9548-C33C-19F9953B7EB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79062601"/>
              </p:ext>
            </p:extLst>
          </p:nvPr>
        </p:nvGraphicFramePr>
        <p:xfrm>
          <a:off x="0" y="770650"/>
          <a:ext cx="1034473" cy="6106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73">
                  <a:extLst>
                    <a:ext uri="{9D8B030D-6E8A-4147-A177-3AD203B41FA5}">
                      <a16:colId xmlns:a16="http://schemas.microsoft.com/office/drawing/2014/main" val="2252126409"/>
                    </a:ext>
                  </a:extLst>
                </a:gridCol>
              </a:tblGrid>
              <a:tr h="488708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39436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1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Introduction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674722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ysClr val="windowText" lastClr="00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Method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879954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kern="1200" dirty="0" err="1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Results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&amp; </a:t>
                      </a:r>
                      <a:r>
                        <a:rPr lang="ko-KR" altLang="ko-KR" sz="1200" kern="1200" dirty="0" err="1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Discussion</a:t>
                      </a:r>
                      <a:endParaRPr lang="ko-KR" altLang="ko-KR" sz="1200" kern="1200" dirty="0">
                        <a:solidFill>
                          <a:schemeClr val="tx1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048418"/>
                  </a:ext>
                </a:extLst>
              </a:tr>
              <a:tr h="127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Part 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4</a:t>
                      </a:r>
                    </a:p>
                    <a:p>
                      <a:pPr latinLnBrk="1"/>
                      <a:r>
                        <a:rPr lang="ko-KR" altLang="ko-KR" sz="1200" dirty="0" err="1">
                          <a:solidFill>
                            <a:schemeClr val="bg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Conclusion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49664"/>
                  </a:ext>
                </a:extLst>
              </a:tr>
              <a:tr h="514065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ysClr val="windowText" lastClr="0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838017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391EA-EA48-5476-8678-171B6F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8283"/>
            <a:ext cx="2743200" cy="274024"/>
          </a:xfrm>
        </p:spPr>
        <p:txBody>
          <a:bodyPr/>
          <a:lstStyle>
            <a:lvl1pPr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5498B3C2-55AA-4B0C-BFD3-207B0CEC0597}" type="slidenum">
              <a:rPr lang="ko-KR" altLang="en-US" smtClean="0"/>
              <a:pPr/>
              <a:t>‹#›</a:t>
            </a:fld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0A1BD7-DD02-7C3F-F321-FCAC98BB2260}"/>
              </a:ext>
            </a:extLst>
          </p:cNvPr>
          <p:cNvSpPr/>
          <p:nvPr userDrawn="1"/>
        </p:nvSpPr>
        <p:spPr>
          <a:xfrm>
            <a:off x="0" y="698648"/>
            <a:ext cx="12192000" cy="72000"/>
          </a:xfrm>
          <a:prstGeom prst="rect">
            <a:avLst/>
          </a:prstGeom>
          <a:solidFill>
            <a:srgbClr val="0E4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텍스트 개체 틀 47">
            <a:extLst>
              <a:ext uri="{FF2B5EF4-FFF2-40B4-BE49-F238E27FC236}">
                <a16:creationId xmlns:a16="http://schemas.microsoft.com/office/drawing/2014/main" id="{F7F58D9A-5782-CF00-9C0F-8847738EFE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91673" y="2125543"/>
            <a:ext cx="925253" cy="320088"/>
          </a:xfr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본문 </a:t>
            </a:r>
            <a:r>
              <a:rPr lang="en-US" altLang="ko-KR" dirty="0"/>
              <a:t>1/2</a:t>
            </a:r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14CCD88-0831-D090-F42C-3C781231B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8952" y="9516"/>
            <a:ext cx="8849360" cy="720000"/>
          </a:xfrm>
        </p:spPr>
        <p:txBody>
          <a:bodyPr anchor="b" anchorCtr="0"/>
          <a:lstStyle>
            <a:lvl1pPr>
              <a:defRPr sz="3200">
                <a:solidFill>
                  <a:srgbClr val="0E4A8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21" name="텍스트 개체 틀 47">
            <a:extLst>
              <a:ext uri="{FF2B5EF4-FFF2-40B4-BE49-F238E27FC236}">
                <a16:creationId xmlns:a16="http://schemas.microsoft.com/office/drawing/2014/main" id="{D479D636-4697-BB87-FF28-84037D116B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01873" y="2125543"/>
            <a:ext cx="925253" cy="320088"/>
          </a:xfr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본문 </a:t>
            </a:r>
            <a:r>
              <a:rPr lang="en-US" altLang="ko-KR" dirty="0"/>
              <a:t>2/2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3D8D05F-829B-B4A7-1FDD-49AB8AF0E4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987" y="189517"/>
            <a:ext cx="2102098" cy="360000"/>
          </a:xfrm>
          <a:prstGeom prst="rect">
            <a:avLst/>
          </a:prstGeom>
        </p:spPr>
      </p:pic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6929B78-7C29-8CB3-5D14-1BE25A2718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8952" y="917019"/>
            <a:ext cx="10930133" cy="352425"/>
          </a:xfrm>
        </p:spPr>
        <p:txBody>
          <a:bodyPr/>
          <a:lstStyle>
            <a:lvl1pPr>
              <a:buClr>
                <a:srgbClr val="0E4A84"/>
              </a:buClr>
              <a:buFont typeface="Segoe UI Symbol" panose="020B0502040204020203" pitchFamily="34" charset="0"/>
              <a:buChar char="▍"/>
              <a:defRPr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소제목</a:t>
            </a:r>
            <a:endParaRPr lang="ko-KR" altLang="en-US" dirty="0"/>
          </a:p>
        </p:txBody>
      </p:sp>
      <p:sp>
        <p:nvSpPr>
          <p:cNvPr id="3" name="내용 개체 틀 17">
            <a:extLst>
              <a:ext uri="{FF2B5EF4-FFF2-40B4-BE49-F238E27FC236}">
                <a16:creationId xmlns:a16="http://schemas.microsoft.com/office/drawing/2014/main" id="{498A8137-F40A-495D-C1AA-A09E45C4D87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058953" y="1307526"/>
            <a:ext cx="10930220" cy="818017"/>
          </a:xfrm>
        </p:spPr>
        <p:txBody>
          <a:bodyPr lIns="180000">
            <a:noAutofit/>
          </a:bodyPr>
          <a:lstStyle>
            <a:lvl1pPr>
              <a:defRPr sz="1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>
              <a:buNone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>
              <a:buNone/>
              <a:defRPr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4" name="텍스트 개체 틀 11">
            <a:extLst>
              <a:ext uri="{FF2B5EF4-FFF2-40B4-BE49-F238E27FC236}">
                <a16:creationId xmlns:a16="http://schemas.microsoft.com/office/drawing/2014/main" id="{B58E20E1-5F89-F871-0A8C-00915857BE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3630" y="6655490"/>
            <a:ext cx="925253" cy="229938"/>
          </a:xfrm>
        </p:spPr>
        <p:txBody>
          <a:bodyPr/>
          <a:lstStyle>
            <a:lvl1pPr marL="108000">
              <a:lnSpc>
                <a:spcPct val="0"/>
              </a:lnSpc>
              <a:buFont typeface="+mj-lt"/>
              <a:buNone/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ko-KR" dirty="0"/>
              <a:t>[1] ref1</a:t>
            </a:r>
          </a:p>
          <a:p>
            <a:pPr lvl="0"/>
            <a:r>
              <a:rPr lang="en-US" altLang="ko-KR" dirty="0"/>
              <a:t>[2] ref2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3646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D2ADC-6501-B24A-950C-A577D4CD0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6952C1-0A50-56FF-8FA7-95D34AAB0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5E85C1-FAC5-0315-F8CE-606AEEF0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7BE7-C6AB-41E5-BF9E-23A256C181F2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BE6FC-98EB-147C-52ED-CA5398EC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A2E231-1C26-5BC9-E9F9-B9DC98BE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90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42B85-89C5-BBFC-406E-1DB870D2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FCDD9D-D1B0-143C-77C2-3AA426B0E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DD04CC-AE9E-A8A4-46EF-08340AF77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528F2F-622E-BA89-9A88-0977DF9B1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6EF1-75A4-40D6-86B1-D3207C152DD1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C277C0-B5E9-D568-8931-38C28A5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ED8AFA-FB09-AA0F-1829-882C031C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115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275CF-8361-E191-D49F-33CC4CBE1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55781B-58D0-2A46-3653-04B1631A6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0B3D8A-C6C3-CD0D-C4CF-A901FA72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C33108-1EDA-D4FB-8FE5-F1E31504D8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E71D30-68AD-5B58-ABF3-7B82BC15C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6F9311-FE76-D125-1728-5BFF95177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30B4-76B2-4093-87F1-2C20F8CDDF8C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FE6D71C-CB27-CBE9-FCD9-7371AF90E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5F2CDB-6D26-6C38-D260-16303BBC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30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45450-A0A6-0EBF-71E5-630261D1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2B7500-9B37-8872-369A-006299684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F73E-90BD-4898-9985-9A22ED0C1626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B7548E-2BAF-098F-B8A5-67FD7FCA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63F8B1-E722-D6BD-6800-FC44BA7D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631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B25141-3BB3-F03D-C79B-5929FA3D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2028-421F-466B-978C-6C1D22531202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1D5E81-60CB-B716-6FA4-AC367C8C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39A5AE-6CE5-43EE-AE42-441D9F54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37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F81AA-DF31-F0E0-6E8A-BF937F60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B8760-7F53-D515-DC62-DC77CF17A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64464F-6CD0-288E-7A72-9F2322A37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AAB13B-E3E0-6168-20E0-3B81199D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0D36-5772-4501-A699-DCF195C33B66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1694F2-6AF4-6D34-1DAA-34CE4784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8D802A-051F-BF8B-A9BC-622BB892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039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C58A6-A99C-68A7-B9D9-EC371C68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58C9FF-7FC3-7C67-9448-8E23579F9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01450E-01EA-0E85-7243-E6F8ED31A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F83AB4-22D6-F2B3-1117-07C2914C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A400-4618-46DC-9074-4B0793CE6661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59B92C-8D81-DE39-9EE1-61ED6B99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AE91E6-1EFF-DB09-9C6B-F559940E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027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EBC7E3-C7DA-6D96-C86F-CAA9FB78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BA23C3-73EA-971D-129C-61D1901A7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7E0FB5-1983-F649-A91F-92DEDEF8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6C58-D967-41C2-8825-54E573958828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385B5E-3B85-0633-B3F5-D0682F5B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7EE8D-4B83-E592-5271-7FDE37ED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73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0D0D16-A6BE-FB62-B9EC-502D57588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370587-5587-DE81-E10D-3F4D3D4F0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1682F-F642-6401-10C9-CDFCD3A95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62104-B999-4087-9DA4-66CA627B3AA4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3EE1C7-8455-850E-82A6-3DEDE271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6132A0-99C5-D6F0-099E-CA920A4A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45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31B531-7403-386A-A8F4-C9BEB6A83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16E2E2-DC64-0CA8-08A1-EDFCA1ECF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ED5721-B28E-E4A5-5908-F1F653868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BEF0F-EDE6-4439-995D-1D0365F023F1}" type="datetime1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274261-8F75-1ACC-330D-569E721B4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7058A-6BE2-2FA6-35D7-820A79413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8B3C2-55AA-4B0C-BFD3-207B0CEC0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95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6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samsungsds.com/kr/insights/1233717_4627.html" TargetMode="External"/><Relationship Id="rId4" Type="http://schemas.openxmlformats.org/officeDocument/2006/relationships/hyperlink" Target="https://kr.mathworks.com/discovery/deep-learning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33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kr.mathworks.com/discovery/convolutional-neural-network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7888-BF3D-F2C8-43E7-3A3A0562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1DB5319-78D9-A7CB-9386-A2726AB49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0"/>
            <a:ext cx="9784080" cy="6858000"/>
          </a:xfrm>
          <a:prstGeom prst="rect">
            <a:avLst/>
          </a:prstGeom>
        </p:spPr>
      </p:pic>
      <p:sp>
        <p:nvSpPr>
          <p:cNvPr id="32" name="Google Shape;32;p1">
            <a:extLst>
              <a:ext uri="{FF2B5EF4-FFF2-40B4-BE49-F238E27FC236}">
                <a16:creationId xmlns:a16="http://schemas.microsoft.com/office/drawing/2014/main" id="{CDE1AB18-FF64-CC5E-2109-6D78C8A83B02}"/>
              </a:ext>
            </a:extLst>
          </p:cNvPr>
          <p:cNvSpPr/>
          <p:nvPr/>
        </p:nvSpPr>
        <p:spPr>
          <a:xfrm>
            <a:off x="-1" y="0"/>
            <a:ext cx="3945809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rgbClr val="000000"/>
              </a:gs>
            </a:gsLst>
            <a:lin ang="0" scaled="1"/>
          </a:gra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3" name="Google Shape;33;p1">
            <a:extLst>
              <a:ext uri="{FF2B5EF4-FFF2-40B4-BE49-F238E27FC236}">
                <a16:creationId xmlns:a16="http://schemas.microsoft.com/office/drawing/2014/main" id="{CDD5F431-615B-E34B-2A56-93BB7AAEECEF}"/>
              </a:ext>
            </a:extLst>
          </p:cNvPr>
          <p:cNvSpPr txBox="1"/>
          <p:nvPr/>
        </p:nvSpPr>
        <p:spPr>
          <a:xfrm>
            <a:off x="698026" y="1366481"/>
            <a:ext cx="3556936" cy="187739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dirty="0">
                <a:solidFill>
                  <a:schemeClr val="lt1"/>
                </a:solidFill>
                <a:latin typeface="KoPubWorld돋움체 Bold"/>
                <a:ea typeface="KoPubWorld돋움체 Bold"/>
                <a:cs typeface="KoPubWorld돋움체 Bold"/>
              </a:rPr>
              <a:t>IDEA LAB AI STUDY</a:t>
            </a:r>
            <a:br>
              <a:rPr lang="ko-KR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lang="ko-KR" sz="2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3600" b="0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KoPubWorld돋움체 Bold"/>
                <a:ea typeface="KoPubWorld돋움체 Bold"/>
                <a:cs typeface="KoPubWorld돋움체 Bold"/>
                <a:sym typeface="Arial"/>
              </a:rPr>
              <a:t>4</a:t>
            </a:r>
            <a:r>
              <a:rPr lang="ko-KR" altLang="en-US" sz="3600" b="0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KoPubWorld돋움체 Bold"/>
                <a:ea typeface="KoPubWorld돋움체 Bold"/>
                <a:cs typeface="KoPubWorld돋움체 Bold"/>
                <a:sym typeface="Arial"/>
              </a:rPr>
              <a:t>장</a:t>
            </a:r>
            <a:r>
              <a:rPr lang="en-US" altLang="ko-KR" sz="3600" b="0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KoPubWorld돋움체 Bold"/>
                <a:ea typeface="KoPubWorld돋움체 Bold"/>
                <a:cs typeface="KoPubWorld돋움체 Bold"/>
                <a:sym typeface="Arial"/>
              </a:rPr>
              <a:t>:</a:t>
            </a:r>
            <a:r>
              <a:rPr lang="ko-KR" altLang="en-US" sz="3600" b="0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KoPubWorld돋움체 Bold"/>
                <a:ea typeface="KoPubWorld돋움체 Bold"/>
                <a:cs typeface="KoPubWorld돋움체 Bold"/>
                <a:sym typeface="Arial"/>
              </a:rPr>
              <a:t> 딥러닝 시작</a:t>
            </a:r>
            <a:endParaRPr sz="2400" b="0" i="0" u="none" strike="noStrike" cap="none" dirty="0">
              <a:solidFill>
                <a:schemeClr val="accent4">
                  <a:lumMod val="40000"/>
                  <a:lumOff val="60000"/>
                </a:schemeClr>
              </a:solidFill>
              <a:latin typeface="KoPubWorld돋움체 Bold"/>
              <a:ea typeface="KoPubWorld돋움체 Bold"/>
              <a:cs typeface="KoPubWorld돋움체 Bold"/>
              <a:sym typeface="Arial"/>
            </a:endParaRPr>
          </a:p>
        </p:txBody>
      </p:sp>
      <p:sp>
        <p:nvSpPr>
          <p:cNvPr id="34" name="Google Shape;34;p1">
            <a:extLst>
              <a:ext uri="{FF2B5EF4-FFF2-40B4-BE49-F238E27FC236}">
                <a16:creationId xmlns:a16="http://schemas.microsoft.com/office/drawing/2014/main" id="{DBEE6210-197D-FE2D-EFF9-0BBA40B1C46C}"/>
              </a:ext>
            </a:extLst>
          </p:cNvPr>
          <p:cNvSpPr txBox="1"/>
          <p:nvPr/>
        </p:nvSpPr>
        <p:spPr>
          <a:xfrm>
            <a:off x="753079" y="4136423"/>
            <a:ext cx="3446830" cy="121567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400" b="0" i="0" u="none" strike="noStrike" cap="none" dirty="0">
                <a:solidFill>
                  <a:schemeClr val="lt1"/>
                </a:solidFill>
                <a:latin typeface="KoPubWorld돋움체 Medium"/>
                <a:ea typeface="KoPubWorld돋움체 Medium"/>
                <a:cs typeface="KoPubWorld돋움체 Medium"/>
                <a:sym typeface="Arial"/>
              </a:rPr>
              <a:t>익명</a:t>
            </a:r>
            <a:r>
              <a:rPr lang="en-US" altLang="ko-KR" sz="2400" b="0" i="0" u="none" strike="noStrike" cap="none" dirty="0">
                <a:solidFill>
                  <a:schemeClr val="lt1"/>
                </a:solidFill>
                <a:latin typeface="KoPubWorld돋움체 Medium"/>
                <a:ea typeface="KoPubWorld돋움체 Medium"/>
                <a:cs typeface="KoPubWorld돋움체 Medium"/>
                <a:sym typeface="Arial"/>
              </a:rPr>
              <a:t>3</a:t>
            </a:r>
            <a:br>
              <a:rPr lang="ko-KR" sz="2400" b="0" i="0" u="none" strike="noStrike" cap="none" dirty="0">
                <a:solidFill>
                  <a:schemeClr val="lt1"/>
                </a:solidFill>
                <a:latin typeface="KoPubWorld돋움체 Medium"/>
                <a:ea typeface="KoPubWorld돋움체 Medium"/>
                <a:cs typeface="KoPubWorld돋움체 Medium"/>
                <a:sym typeface="Arial"/>
              </a:rPr>
            </a:br>
            <a:r>
              <a:rPr lang="ko-KR" sz="1800" b="0" i="0" u="none" strike="noStrike" cap="none" dirty="0">
                <a:solidFill>
                  <a:schemeClr val="lt1"/>
                </a:solidFill>
                <a:latin typeface="KoPubWorld돋움체 Medium"/>
                <a:ea typeface="KoPubWorld돋움체 Medium"/>
                <a:cs typeface="KoPubWorld돋움체 Medium"/>
                <a:sym typeface="Arial"/>
              </a:rPr>
              <a:t>(지도교수: </a:t>
            </a:r>
            <a:r>
              <a:rPr lang="ko-KR" sz="1800" b="0" i="0" u="none" strike="noStrike" cap="none" dirty="0" err="1">
                <a:solidFill>
                  <a:schemeClr val="lt1"/>
                </a:solidFill>
                <a:latin typeface="KoPubWorld돋움체 Medium"/>
                <a:ea typeface="KoPubWorld돋움체 Medium"/>
                <a:cs typeface="KoPubWorld돋움체 Medium"/>
                <a:sym typeface="Arial"/>
              </a:rPr>
              <a:t>양선웅</a:t>
            </a:r>
            <a:r>
              <a:rPr lang="ko-KR" sz="1800" b="0" i="0" u="none" strike="noStrike" cap="none" dirty="0">
                <a:solidFill>
                  <a:schemeClr val="lt1"/>
                </a:solidFill>
                <a:latin typeface="KoPubWorld돋움체 Medium"/>
                <a:ea typeface="KoPubWorld돋움체 Medium"/>
                <a:cs typeface="KoPubWorld돋움체 Medium"/>
                <a:sym typeface="Arial"/>
              </a:rPr>
              <a:t>)</a:t>
            </a:r>
            <a:br>
              <a:rPr lang="ko-KR" sz="2400" b="0" i="0" u="none" strike="noStrike" cap="none" dirty="0">
                <a:solidFill>
                  <a:schemeClr val="lt1"/>
                </a:solidFill>
                <a:latin typeface="KoPubWorld돋움체 Medium"/>
                <a:ea typeface="KoPubWorld돋움체 Medium"/>
                <a:cs typeface="KoPubWorld돋움체 Medium"/>
                <a:sym typeface="Arial"/>
              </a:rPr>
            </a:br>
            <a:br>
              <a:rPr lang="ko-KR"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 b="0" i="0" u="none" strike="noStrike" cap="none" dirty="0">
                <a:solidFill>
                  <a:schemeClr val="lt1"/>
                </a:solidFill>
                <a:latin typeface="KoPubWorld돋움체 Light"/>
                <a:ea typeface="KoPubWorld돋움체 Light"/>
                <a:cs typeface="KoPubWorld돋움체 Light"/>
                <a:sym typeface="Arial"/>
              </a:rPr>
              <a:t>한양대학교 ERICA 기계공학과</a:t>
            </a:r>
            <a:endParaRPr sz="2400" b="0" i="0" u="none" strike="noStrike" cap="none" dirty="0">
              <a:solidFill>
                <a:schemeClr val="lt1"/>
              </a:solidFill>
              <a:latin typeface="KoPubWorld돋움체 Light"/>
              <a:ea typeface="KoPubWorld돋움체 Light"/>
              <a:cs typeface="KoPubWorld돋움체 Light"/>
              <a:sym typeface="Arial"/>
            </a:endParaRPr>
          </a:p>
        </p:txBody>
      </p:sp>
      <p:pic>
        <p:nvPicPr>
          <p:cNvPr id="36" name="Google Shape;36;p1">
            <a:extLst>
              <a:ext uri="{FF2B5EF4-FFF2-40B4-BE49-F238E27FC236}">
                <a16:creationId xmlns:a16="http://schemas.microsoft.com/office/drawing/2014/main" id="{3DE2D730-E977-BF25-D005-3C58B893B4A5}"/>
              </a:ext>
            </a:extLst>
          </p:cNvPr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314077" y="6237343"/>
            <a:ext cx="2324835" cy="3967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959264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2015-C3B1-A629-3E31-4DC2339E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72F0E9D7-683B-33C4-ADCC-D51BF87D3F1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7FF3BCF7-AA67-F96B-0AD7-575D84508E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r>
              <a:rPr lang="en-US" altLang="ko-KR" dirty="0"/>
              <a:t>XOR</a:t>
            </a:r>
            <a:r>
              <a:rPr lang="ko-KR" altLang="en-US" dirty="0"/>
              <a:t>은 선형으로 데이터를 분리할 수 없다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Multi-layer perceptron: </a:t>
            </a:r>
            <a:r>
              <a:rPr lang="ko-KR" altLang="en-US" dirty="0"/>
              <a:t>은닉층을 통한 비선형성 학습</a:t>
            </a:r>
            <a:endParaRPr lang="en-US" altLang="ko-KR" dirty="0"/>
          </a:p>
          <a:p>
            <a:r>
              <a:rPr lang="en-US" altLang="ko-KR" dirty="0"/>
              <a:t>DNN(Deep Neural Network): </a:t>
            </a:r>
            <a:r>
              <a:rPr lang="ko-KR" altLang="en-US" dirty="0"/>
              <a:t>입력층과 </a:t>
            </a:r>
            <a:r>
              <a:rPr lang="ko-KR" altLang="en-US" dirty="0" err="1"/>
              <a:t>출력층</a:t>
            </a:r>
            <a:r>
              <a:rPr lang="ko-KR" altLang="en-US" dirty="0"/>
              <a:t> 사이에 은닉층이 여러 개 있는 신경망</a:t>
            </a:r>
            <a:r>
              <a:rPr lang="en-US" altLang="ko-KR" dirty="0"/>
              <a:t>. </a:t>
            </a:r>
            <a:r>
              <a:rPr lang="ko-KR" altLang="en-US" dirty="0" err="1"/>
              <a:t>딥러닝이라고도</a:t>
            </a:r>
            <a:r>
              <a:rPr lang="ko-KR" altLang="en-US" dirty="0"/>
              <a:t>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70BF67-B218-9079-2C4D-738A789E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pPr/>
              <a:t>2</a:t>
            </a:fld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D26F5D5-EE20-1DD1-C9B3-3B237F3E33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1673" y="2125543"/>
            <a:ext cx="1138517" cy="320088"/>
          </a:xfrm>
        </p:spPr>
        <p:txBody>
          <a:bodyPr/>
          <a:lstStyle/>
          <a:p>
            <a:r>
              <a:rPr lang="en-US" altLang="ko-KR" dirty="0"/>
              <a:t>Logic gate</a:t>
            </a:r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72BCA551-53E0-444D-FD70-63BD2E5B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딥러닝의</a:t>
            </a:r>
            <a:r>
              <a:rPr lang="ko-KR" altLang="en-US" dirty="0"/>
              <a:t> 출현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0EED48C9-2403-6AD0-2E83-F4182BACE2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01873" y="2125543"/>
            <a:ext cx="1321196" cy="320088"/>
          </a:xfrm>
        </p:spPr>
        <p:txBody>
          <a:bodyPr/>
          <a:lstStyle/>
          <a:p>
            <a:r>
              <a:rPr lang="ko-KR" altLang="en-US" dirty="0"/>
              <a:t>비선형적 분류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E606E2D-DA5A-64FE-9E27-867C7F9A3E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XOR Gate (</a:t>
            </a:r>
            <a:r>
              <a:rPr lang="ko-KR" altLang="en-US" dirty="0" err="1"/>
              <a:t>베타적</a:t>
            </a:r>
            <a:r>
              <a:rPr lang="ko-KR" altLang="en-US" dirty="0"/>
              <a:t> 논리합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FEEB233B-4433-3842-A481-91C0E6DC644E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ko-KR" altLang="en-US" dirty="0"/>
              <a:t>두 입력 중 하나만 </a:t>
            </a:r>
            <a:r>
              <a:rPr lang="en-US" altLang="ko-KR" dirty="0"/>
              <a:t>‘1’</a:t>
            </a:r>
            <a:r>
              <a:rPr lang="ko-KR" altLang="en-US" dirty="0"/>
              <a:t>일 때 작동하는 논리 연산</a:t>
            </a:r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E410B2C0-0360-B4E8-E4DD-AED78BFDC9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38" t="6220" r="34338" b="6220"/>
          <a:stretch>
            <a:fillRect/>
          </a:stretch>
        </p:blipFill>
        <p:spPr>
          <a:xfrm>
            <a:off x="1861027" y="2386370"/>
            <a:ext cx="4164047" cy="2026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AC0369-7A85-60EF-BAFD-F9A6D7A58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027" y="4530187"/>
            <a:ext cx="2030052" cy="19999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355437-3221-1581-08A8-6508D31C5075}"/>
              </a:ext>
            </a:extLst>
          </p:cNvPr>
          <p:cNvSpPr txBox="1"/>
          <p:nvPr/>
        </p:nvSpPr>
        <p:spPr>
          <a:xfrm>
            <a:off x="2398084" y="4592115"/>
            <a:ext cx="955938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XOR</a:t>
            </a:r>
            <a:endParaRPr lang="ko-KR" altLang="en-US" sz="1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867A6D-F189-5648-44F9-73D3495C242B}"/>
              </a:ext>
            </a:extLst>
          </p:cNvPr>
          <p:cNvSpPr txBox="1"/>
          <p:nvPr/>
        </p:nvSpPr>
        <p:spPr>
          <a:xfrm>
            <a:off x="2398084" y="2416510"/>
            <a:ext cx="955938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AND</a:t>
            </a:r>
            <a:endParaRPr lang="ko-KR" altLang="en-US" sz="1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DCA94D-070F-EB78-6053-B21CA8732188}"/>
              </a:ext>
            </a:extLst>
          </p:cNvPr>
          <p:cNvSpPr txBox="1"/>
          <p:nvPr/>
        </p:nvSpPr>
        <p:spPr>
          <a:xfrm>
            <a:off x="4517534" y="2416510"/>
            <a:ext cx="955938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OR</a:t>
            </a:r>
            <a:endParaRPr lang="ko-KR" altLang="en-US" sz="1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037F1AC-04A9-2713-6E6D-48A544A12B49}"/>
              </a:ext>
            </a:extLst>
          </p:cNvPr>
          <p:cNvSpPr/>
          <p:nvPr/>
        </p:nvSpPr>
        <p:spPr>
          <a:xfrm rot="2619224">
            <a:off x="2133102" y="5368841"/>
            <a:ext cx="1485900" cy="511032"/>
          </a:xfrm>
          <a:prstGeom prst="ellipse">
            <a:avLst/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3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20572E-5A29-D2F4-F722-D2A44FAD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EB5BD5C6-941E-A54C-2D53-D65BF9EE2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딥러닝 구조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317FC3E-9904-18C3-9F55-CB39D7CEA8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딥러닝 모델의 구조</a:t>
            </a:r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0311BEF1-2E3C-4581-F5F6-0DE9DC5A559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058953" y="1307526"/>
            <a:ext cx="5037047" cy="1600749"/>
          </a:xfrm>
        </p:spPr>
        <p:txBody>
          <a:bodyPr/>
          <a:lstStyle/>
          <a:p>
            <a:r>
              <a:rPr lang="en-US" altLang="ko-KR" dirty="0"/>
              <a:t>Layer</a:t>
            </a:r>
          </a:p>
          <a:p>
            <a:pPr lvl="1"/>
            <a:r>
              <a:rPr lang="en-US" altLang="ko-KR" dirty="0"/>
              <a:t>Input layer: </a:t>
            </a:r>
            <a:r>
              <a:rPr lang="ko-KR" altLang="en-US" dirty="0"/>
              <a:t>데이터를 받아들이는 층</a:t>
            </a:r>
            <a:endParaRPr lang="en-US" altLang="ko-KR" dirty="0"/>
          </a:p>
          <a:p>
            <a:pPr lvl="1"/>
            <a:r>
              <a:rPr lang="en-US" altLang="ko-KR" dirty="0"/>
              <a:t>Hidden layer: Weight</a:t>
            </a:r>
            <a:r>
              <a:rPr lang="ko-KR" altLang="en-US" dirty="0"/>
              <a:t> </a:t>
            </a:r>
            <a:r>
              <a:rPr lang="en-US" altLang="ko-KR" dirty="0"/>
              <a:t>sum</a:t>
            </a:r>
            <a:r>
              <a:rPr lang="ko-KR" altLang="en-US" dirty="0"/>
              <a:t>을 계산 및 활성함수 적용 </a:t>
            </a:r>
            <a:endParaRPr lang="en-US" altLang="ko-KR" dirty="0"/>
          </a:p>
          <a:p>
            <a:pPr lvl="1"/>
            <a:r>
              <a:rPr lang="en-US" altLang="ko-KR" dirty="0"/>
              <a:t>Output layer: </a:t>
            </a:r>
            <a:r>
              <a:rPr lang="ko-KR" altLang="en-US" dirty="0"/>
              <a:t>결과값 출력</a:t>
            </a:r>
          </a:p>
        </p:txBody>
      </p:sp>
      <p:sp>
        <p:nvSpPr>
          <p:cNvPr id="18" name="내용 개체 틀 15">
            <a:extLst>
              <a:ext uri="{FF2B5EF4-FFF2-40B4-BE49-F238E27FC236}">
                <a16:creationId xmlns:a16="http://schemas.microsoft.com/office/drawing/2014/main" id="{28F9CA85-98D2-C6C9-7302-86545E2ECC01}"/>
              </a:ext>
            </a:extLst>
          </p:cNvPr>
          <p:cNvSpPr txBox="1">
            <a:spLocks/>
          </p:cNvSpPr>
          <p:nvPr/>
        </p:nvSpPr>
        <p:spPr>
          <a:xfrm>
            <a:off x="6524018" y="1307526"/>
            <a:ext cx="5037047" cy="1600749"/>
          </a:xfrm>
          <a:prstGeom prst="rect">
            <a:avLst/>
          </a:prstGeom>
        </p:spPr>
        <p:txBody>
          <a:bodyPr vert="horz" lIns="18000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ko-KR" altLang="en-US" dirty="0"/>
              <a:t>구성요소</a:t>
            </a:r>
            <a:endParaRPr lang="en-US" altLang="ko-KR" dirty="0"/>
          </a:p>
          <a:p>
            <a:pPr lvl="1">
              <a:buClrTx/>
            </a:pPr>
            <a:r>
              <a:rPr lang="en-US" altLang="ko-KR" dirty="0"/>
              <a:t>Weight: </a:t>
            </a:r>
            <a:r>
              <a:rPr lang="ko-KR" altLang="en-US" dirty="0"/>
              <a:t>노드 간 연결강도</a:t>
            </a:r>
            <a:endParaRPr lang="en-US" altLang="ko-KR" dirty="0"/>
          </a:p>
          <a:p>
            <a:pPr lvl="1">
              <a:buClrTx/>
            </a:pPr>
            <a:r>
              <a:rPr lang="en-US" altLang="ko-KR" dirty="0"/>
              <a:t>Bias: </a:t>
            </a:r>
            <a:r>
              <a:rPr lang="ko-KR" altLang="en-US" dirty="0"/>
              <a:t>가중합에 더해주는 상수</a:t>
            </a:r>
            <a:endParaRPr lang="en-US" altLang="ko-KR" dirty="0"/>
          </a:p>
          <a:p>
            <a:pPr lvl="1">
              <a:buClrTx/>
            </a:pPr>
            <a:r>
              <a:rPr lang="en-US" altLang="ko-KR" dirty="0"/>
              <a:t>Weight sum: </a:t>
            </a:r>
            <a:r>
              <a:rPr lang="ko-KR" altLang="en-US" dirty="0"/>
              <a:t>가중치와 신호의 곱을 합한 값</a:t>
            </a:r>
            <a:endParaRPr lang="en-US" altLang="ko-KR" dirty="0"/>
          </a:p>
          <a:p>
            <a:pPr lvl="1">
              <a:buClrTx/>
            </a:pPr>
            <a:r>
              <a:rPr lang="en-US" altLang="ko-KR" dirty="0"/>
              <a:t>Activation function: </a:t>
            </a:r>
            <a:r>
              <a:rPr lang="ko-KR" altLang="en-US" dirty="0"/>
              <a:t>입력 신호를 적절히 처리하는 함수</a:t>
            </a:r>
            <a:endParaRPr lang="en-US" altLang="ko-KR" dirty="0"/>
          </a:p>
          <a:p>
            <a:pPr lvl="1">
              <a:buClrTx/>
            </a:pPr>
            <a:r>
              <a:rPr lang="en-US" altLang="ko-KR" dirty="0"/>
              <a:t>Loss function: </a:t>
            </a:r>
            <a:r>
              <a:rPr lang="ko-KR" altLang="en-US" dirty="0" err="1"/>
              <a:t>예측값과</a:t>
            </a:r>
            <a:r>
              <a:rPr lang="ko-KR" altLang="en-US" dirty="0"/>
              <a:t> 정답 간 오차를 측정하는 함수</a:t>
            </a:r>
          </a:p>
        </p:txBody>
      </p:sp>
      <p:sp>
        <p:nvSpPr>
          <p:cNvPr id="2" name="그림 개체 틀 11">
            <a:extLst>
              <a:ext uri="{FF2B5EF4-FFF2-40B4-BE49-F238E27FC236}">
                <a16:creationId xmlns:a16="http://schemas.microsoft.com/office/drawing/2014/main" id="{398487E7-0CC6-73E9-D8B2-EBD7C5F6ECB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50885" y="3057832"/>
            <a:ext cx="5328000" cy="350045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  </a:t>
            </a:r>
          </a:p>
        </p:txBody>
      </p:sp>
      <p:sp>
        <p:nvSpPr>
          <p:cNvPr id="3" name="그림 개체 틀 12">
            <a:extLst>
              <a:ext uri="{FF2B5EF4-FFF2-40B4-BE49-F238E27FC236}">
                <a16:creationId xmlns:a16="http://schemas.microsoft.com/office/drawing/2014/main" id="{F7B874E5-FCE4-9E24-634E-7B8290A52E0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61085" y="3057832"/>
            <a:ext cx="5328000" cy="350045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10">
            <a:extLst>
              <a:ext uri="{FF2B5EF4-FFF2-40B4-BE49-F238E27FC236}">
                <a16:creationId xmlns:a16="http://schemas.microsoft.com/office/drawing/2014/main" id="{EF3EA367-4874-8F84-B3F4-FFC92373C8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1673" y="2946357"/>
            <a:ext cx="1141659" cy="320088"/>
          </a:xfrm>
        </p:spPr>
        <p:txBody>
          <a:bodyPr/>
          <a:lstStyle/>
          <a:p>
            <a:r>
              <a:rPr lang="ko-KR" altLang="en-US" dirty="0"/>
              <a:t>딥러닝 구조</a:t>
            </a:r>
          </a:p>
        </p:txBody>
      </p:sp>
      <p:sp>
        <p:nvSpPr>
          <p:cNvPr id="6" name="텍스트 개체 틀 13">
            <a:extLst>
              <a:ext uri="{FF2B5EF4-FFF2-40B4-BE49-F238E27FC236}">
                <a16:creationId xmlns:a16="http://schemas.microsoft.com/office/drawing/2014/main" id="{196ECB92-2F4F-9456-4C2F-2AC963C4FD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01873" y="2946357"/>
            <a:ext cx="723275" cy="320088"/>
          </a:xfrm>
        </p:spPr>
        <p:txBody>
          <a:bodyPr/>
          <a:lstStyle/>
          <a:p>
            <a:r>
              <a:rPr lang="ko-KR" altLang="en-US" dirty="0"/>
              <a:t>가중치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6C6C327-AF06-2E34-A1CE-CAC05C434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90" y="3675051"/>
            <a:ext cx="4716190" cy="226601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64B0A78-F6B7-05F9-09D8-88945458B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911" y="3461120"/>
            <a:ext cx="5244348" cy="2693874"/>
          </a:xfrm>
          <a:prstGeom prst="rect">
            <a:avLst/>
          </a:prstGeom>
        </p:spPr>
      </p:pic>
      <p:sp>
        <p:nvSpPr>
          <p:cNvPr id="19" name="텍스트 개체 틀 11">
            <a:extLst>
              <a:ext uri="{FF2B5EF4-FFF2-40B4-BE49-F238E27FC236}">
                <a16:creationId xmlns:a16="http://schemas.microsoft.com/office/drawing/2014/main" id="{5D1324AC-AC34-201A-EDE4-D9FC9CA266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9205" y="6640250"/>
            <a:ext cx="11847635" cy="274024"/>
          </a:xfrm>
        </p:spPr>
        <p:txBody>
          <a:bodyPr>
            <a:normAutofit/>
          </a:bodyPr>
          <a:lstStyle>
            <a:lvl1pPr marL="108000">
              <a:lnSpc>
                <a:spcPct val="0"/>
              </a:lnSpc>
              <a:buFont typeface="+mj-lt"/>
              <a:buNone/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ko-KR" sz="700" dirty="0"/>
              <a:t>[1] </a:t>
            </a:r>
            <a:r>
              <a:rPr lang="ko-KR" altLang="ko-KR" sz="700" dirty="0" err="1"/>
              <a:t>MathWorks</a:t>
            </a:r>
            <a:r>
              <a:rPr lang="ko-KR" altLang="ko-KR" sz="700" dirty="0"/>
              <a:t>, "딥러닝 - MATLAB &amp; </a:t>
            </a:r>
            <a:r>
              <a:rPr lang="ko-KR" altLang="ko-KR" sz="700" dirty="0" err="1"/>
              <a:t>Simulink</a:t>
            </a:r>
            <a:r>
              <a:rPr lang="ko-KR" altLang="ko-KR" sz="700" dirty="0"/>
              <a:t>," </a:t>
            </a:r>
            <a:r>
              <a:rPr lang="ko-KR" altLang="ko-KR" sz="700" dirty="0" err="1"/>
              <a:t>MathWorks</a:t>
            </a:r>
            <a:r>
              <a:rPr lang="ko-KR" altLang="ko-KR" sz="700" dirty="0"/>
              <a:t>. </a:t>
            </a:r>
            <a:r>
              <a:rPr lang="ko-KR" altLang="ko-KR" sz="700" dirty="0">
                <a:hlinkClick r:id="rId4"/>
              </a:rPr>
              <a:t>https://kr.mathworks.com/discovery/deep-learning.html</a:t>
            </a:r>
            <a:r>
              <a:rPr lang="ko-KR" altLang="ko-KR" sz="700" dirty="0"/>
              <a:t> (</a:t>
            </a:r>
            <a:r>
              <a:rPr lang="ko-KR" altLang="ko-KR" sz="700" dirty="0" err="1"/>
              <a:t>accessed</a:t>
            </a:r>
            <a:r>
              <a:rPr lang="ko-KR" altLang="ko-KR" sz="700" dirty="0"/>
              <a:t> </a:t>
            </a:r>
            <a:r>
              <a:rPr lang="ko-KR" altLang="ko-KR" sz="700" dirty="0" err="1"/>
              <a:t>Jul</a:t>
            </a:r>
            <a:r>
              <a:rPr lang="ko-KR" altLang="ko-KR" sz="700" dirty="0"/>
              <a:t>. 3, 2026).</a:t>
            </a:r>
            <a:endParaRPr lang="en-US" altLang="ko-KR" sz="700" dirty="0"/>
          </a:p>
          <a:p>
            <a:pPr lvl="0"/>
            <a:r>
              <a:rPr lang="en-US" altLang="ko-KR" sz="700" dirty="0"/>
              <a:t>[2] </a:t>
            </a:r>
            <a:r>
              <a:rPr lang="ko-KR" altLang="ko-KR" sz="700" dirty="0" err="1"/>
              <a:t>삼성SDS</a:t>
            </a:r>
            <a:r>
              <a:rPr lang="ko-KR" altLang="ko-KR" sz="700" dirty="0"/>
              <a:t> 커뮤니케이션팀, "[</a:t>
            </a:r>
            <a:r>
              <a:rPr lang="ko-KR" altLang="ko-KR" sz="700" dirty="0" err="1"/>
              <a:t>IT에</a:t>
            </a:r>
            <a:r>
              <a:rPr lang="ko-KR" altLang="ko-KR" sz="700" dirty="0"/>
              <a:t> 한걸음 더 다가가기] </a:t>
            </a:r>
            <a:r>
              <a:rPr lang="ko-KR" altLang="ko-KR" sz="700" dirty="0" err="1"/>
              <a:t>SMAC의</a:t>
            </a:r>
            <a:r>
              <a:rPr lang="ko-KR" altLang="ko-KR" sz="700" dirty="0"/>
              <a:t> 분석 부문, 지능화를 지향하는 </a:t>
            </a:r>
            <a:r>
              <a:rPr lang="ko-KR" altLang="ko-KR" sz="700" dirty="0" err="1"/>
              <a:t>Machine</a:t>
            </a:r>
            <a:r>
              <a:rPr lang="ko-KR" altLang="ko-KR" sz="700" dirty="0"/>
              <a:t> </a:t>
            </a:r>
            <a:r>
              <a:rPr lang="ko-KR" altLang="ko-KR" sz="700" dirty="0" err="1"/>
              <a:t>Learning</a:t>
            </a:r>
            <a:r>
              <a:rPr lang="ko-KR" altLang="ko-KR" sz="700" dirty="0"/>
              <a:t> (4편)," </a:t>
            </a:r>
            <a:r>
              <a:rPr lang="ko-KR" altLang="ko-KR" sz="700" i="1" dirty="0" err="1"/>
              <a:t>삼성SDS</a:t>
            </a:r>
            <a:r>
              <a:rPr lang="ko-KR" altLang="ko-KR" sz="700" i="1" dirty="0"/>
              <a:t> 인사이트</a:t>
            </a:r>
            <a:r>
              <a:rPr lang="ko-KR" altLang="ko-KR" sz="700" dirty="0"/>
              <a:t>, 2015년 11월 5일. [</a:t>
            </a:r>
            <a:r>
              <a:rPr lang="ko-KR" altLang="ko-KR" sz="700" dirty="0" err="1"/>
              <a:t>Online</a:t>
            </a:r>
            <a:r>
              <a:rPr lang="ko-KR" altLang="ko-KR" sz="700" dirty="0"/>
              <a:t>]. </a:t>
            </a:r>
            <a:r>
              <a:rPr lang="ko-KR" altLang="ko-KR" sz="700" dirty="0" err="1"/>
              <a:t>Available</a:t>
            </a:r>
            <a:r>
              <a:rPr lang="ko-KR" altLang="ko-KR" sz="700" dirty="0"/>
              <a:t>: </a:t>
            </a:r>
            <a:r>
              <a:rPr lang="ko-KR" altLang="ko-KR" sz="700" dirty="0">
                <a:hlinkClick r:id="rId5"/>
              </a:rPr>
              <a:t>www.samsungsds.com/kr/insights/1233717_4627.html</a:t>
            </a:r>
            <a:r>
              <a:rPr lang="ko-KR" altLang="ko-KR" sz="700" dirty="0"/>
              <a:t>. (</a:t>
            </a:r>
            <a:r>
              <a:rPr lang="ko-KR" altLang="ko-KR" sz="700" dirty="0" err="1"/>
              <a:t>accessed</a:t>
            </a:r>
            <a:r>
              <a:rPr lang="ko-KR" altLang="ko-KR" sz="700" dirty="0"/>
              <a:t> </a:t>
            </a:r>
            <a:r>
              <a:rPr lang="ko-KR" altLang="ko-KR" sz="700" dirty="0" err="1"/>
              <a:t>Jul</a:t>
            </a:r>
            <a:r>
              <a:rPr lang="ko-KR" altLang="ko-KR" sz="700" dirty="0"/>
              <a:t>. 3, </a:t>
            </a:r>
            <a:r>
              <a:rPr lang="en-US" altLang="ko-KR" sz="700" dirty="0"/>
              <a:t>2026).</a:t>
            </a:r>
            <a:endParaRPr lang="ko-KR" altLang="en-US" sz="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86D026-3818-6785-7A5B-2396EFB473CE}"/>
              </a:ext>
            </a:extLst>
          </p:cNvPr>
          <p:cNvSpPr txBox="1"/>
          <p:nvPr/>
        </p:nvSpPr>
        <p:spPr>
          <a:xfrm>
            <a:off x="9203165" y="4989227"/>
            <a:ext cx="24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b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72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5F97-FE82-2E16-E4C9-F0282746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F02DB9F9-C9B9-E762-A82F-DF0F6A1670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50884" y="1456948"/>
            <a:ext cx="10738201" cy="510133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DB123-0980-881F-4080-4F1186FC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92CA47F-0C7B-5AC3-9C45-1DD2C73110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1673" y="1299924"/>
            <a:ext cx="1141659" cy="320088"/>
          </a:xfrm>
        </p:spPr>
        <p:txBody>
          <a:bodyPr/>
          <a:lstStyle/>
          <a:p>
            <a:r>
              <a:rPr lang="ko-KR" altLang="en-US" dirty="0"/>
              <a:t>활성화 함수</a:t>
            </a: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8DE143ED-E977-3E2B-3012-12BBF010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딥러닝 구조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103951C-7D7B-F9D3-C257-4E2B653717C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활성함수와 손실함수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220F42B-4EAC-AD88-DE5F-44372A81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14"/>
          <a:stretch>
            <a:fillRect/>
          </a:stretch>
        </p:blipFill>
        <p:spPr>
          <a:xfrm>
            <a:off x="7398331" y="1620011"/>
            <a:ext cx="4042933" cy="4938272"/>
          </a:xfrm>
          <a:prstGeom prst="rect">
            <a:avLst/>
          </a:prstGeom>
        </p:spPr>
      </p:pic>
      <p:sp>
        <p:nvSpPr>
          <p:cNvPr id="17" name="그림 개체 틀 11">
            <a:extLst>
              <a:ext uri="{FF2B5EF4-FFF2-40B4-BE49-F238E27FC236}">
                <a16:creationId xmlns:a16="http://schemas.microsoft.com/office/drawing/2014/main" id="{21F67B04-9240-CFCF-C213-FD86C9C7C302}"/>
              </a:ext>
            </a:extLst>
          </p:cNvPr>
          <p:cNvSpPr txBox="1">
            <a:spLocks/>
          </p:cNvSpPr>
          <p:nvPr/>
        </p:nvSpPr>
        <p:spPr>
          <a:xfrm>
            <a:off x="1259762" y="1456948"/>
            <a:ext cx="6196573" cy="5101335"/>
          </a:xfrm>
          <a:prstGeom prst="roundRect">
            <a:avLst>
              <a:gd name="adj" fmla="val 7818"/>
            </a:avLst>
          </a:prstGeom>
          <a:ln>
            <a:noFill/>
            <a:prstDash val="dash"/>
          </a:ln>
        </p:spPr>
        <p:txBody>
          <a:bodyPr vert="horz" lIns="91440" tIns="18000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16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1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altLang="ko-KR" dirty="0"/>
              <a:t>Sigmoid</a:t>
            </a:r>
          </a:p>
          <a:p>
            <a:pPr lvl="1">
              <a:buClrTx/>
            </a:pPr>
            <a:r>
              <a:rPr lang="en-US" altLang="ko-KR" dirty="0" err="1"/>
              <a:t>Vanishung</a:t>
            </a:r>
            <a:r>
              <a:rPr lang="en-US" altLang="ko-KR" dirty="0"/>
              <a:t> gradient problem </a:t>
            </a:r>
            <a:r>
              <a:rPr lang="ko-KR" altLang="en-US" dirty="0"/>
              <a:t>발생</a:t>
            </a:r>
            <a:r>
              <a:rPr lang="en-US" altLang="ko-KR" dirty="0"/>
              <a:t> </a:t>
            </a:r>
          </a:p>
          <a:p>
            <a:pPr lvl="1">
              <a:buClrTx/>
            </a:pPr>
            <a:endParaRPr lang="en-US" altLang="ko-KR" dirty="0"/>
          </a:p>
          <a:p>
            <a:pPr>
              <a:buClrTx/>
            </a:pPr>
            <a:r>
              <a:rPr lang="en-US" altLang="ko-KR" dirty="0"/>
              <a:t>Hyperbolic tangent</a:t>
            </a:r>
          </a:p>
          <a:p>
            <a:pPr lvl="1">
              <a:buClrTx/>
            </a:pPr>
            <a:r>
              <a:rPr lang="en-US" altLang="ko-KR" dirty="0" err="1"/>
              <a:t>Vanishung</a:t>
            </a:r>
            <a:r>
              <a:rPr lang="en-US" altLang="ko-KR" dirty="0"/>
              <a:t> gradient problem </a:t>
            </a:r>
            <a:r>
              <a:rPr lang="ko-KR" altLang="en-US" dirty="0"/>
              <a:t>발생</a:t>
            </a:r>
            <a:r>
              <a:rPr lang="en-US" altLang="ko-KR" dirty="0"/>
              <a:t> </a:t>
            </a:r>
          </a:p>
          <a:p>
            <a:pPr lvl="1">
              <a:buClrTx/>
            </a:pPr>
            <a:endParaRPr lang="en-US" altLang="ko-KR" dirty="0"/>
          </a:p>
          <a:p>
            <a:pPr>
              <a:buClrTx/>
            </a:pPr>
            <a:r>
              <a:rPr lang="en-US" altLang="ko-KR" dirty="0" err="1"/>
              <a:t>ReLU</a:t>
            </a:r>
            <a:endParaRPr lang="en-US" altLang="ko-KR" dirty="0"/>
          </a:p>
          <a:p>
            <a:pPr lvl="1">
              <a:buClrTx/>
            </a:pPr>
            <a:r>
              <a:rPr lang="en-US" altLang="ko-KR" dirty="0" err="1"/>
              <a:t>Vanishung</a:t>
            </a:r>
            <a:r>
              <a:rPr lang="en-US" altLang="ko-KR" dirty="0"/>
              <a:t> gradient problem </a:t>
            </a:r>
            <a:r>
              <a:rPr lang="ko-KR" altLang="en-US" dirty="0"/>
              <a:t>예방</a:t>
            </a:r>
            <a:r>
              <a:rPr lang="en-US" altLang="ko-KR" dirty="0"/>
              <a:t> </a:t>
            </a:r>
          </a:p>
          <a:p>
            <a:pPr lvl="1">
              <a:buClrTx/>
            </a:pPr>
            <a:r>
              <a:rPr lang="ko-KR" altLang="en-US" dirty="0"/>
              <a:t>음수 영역에 의한 </a:t>
            </a:r>
            <a:r>
              <a:rPr lang="en-US" altLang="ko-KR" dirty="0"/>
              <a:t>dying </a:t>
            </a: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발생</a:t>
            </a:r>
            <a:endParaRPr lang="en-US" altLang="ko-KR" dirty="0"/>
          </a:p>
          <a:p>
            <a:pPr lvl="1">
              <a:buClrTx/>
            </a:pPr>
            <a:endParaRPr lang="en-US" altLang="ko-KR" dirty="0"/>
          </a:p>
          <a:p>
            <a:pPr>
              <a:buClrTx/>
            </a:pPr>
            <a:r>
              <a:rPr lang="en-US" altLang="ko-KR" dirty="0"/>
              <a:t>Leaky </a:t>
            </a:r>
            <a:r>
              <a:rPr lang="en-US" altLang="ko-KR" dirty="0" err="1"/>
              <a:t>ReLU</a:t>
            </a:r>
            <a:endParaRPr lang="en-US" altLang="ko-KR" dirty="0"/>
          </a:p>
          <a:p>
            <a:pPr lvl="1">
              <a:buClrTx/>
            </a:pPr>
            <a:r>
              <a:rPr lang="en-US" altLang="ko-KR" dirty="0" err="1"/>
              <a:t>Vanishung</a:t>
            </a:r>
            <a:r>
              <a:rPr lang="en-US" altLang="ko-KR" dirty="0"/>
              <a:t> gradient problem </a:t>
            </a:r>
            <a:r>
              <a:rPr lang="ko-KR" altLang="en-US" dirty="0"/>
              <a:t>예방</a:t>
            </a:r>
            <a:r>
              <a:rPr lang="en-US" altLang="ko-KR" dirty="0"/>
              <a:t> </a:t>
            </a:r>
          </a:p>
          <a:p>
            <a:pPr lvl="1">
              <a:buClrTx/>
            </a:pPr>
            <a:r>
              <a:rPr lang="en-US" altLang="ko-KR" dirty="0"/>
              <a:t>Dying </a:t>
            </a: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예방</a:t>
            </a: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r>
              <a:rPr lang="en-US" altLang="ko-KR" dirty="0" err="1"/>
              <a:t>Softmax</a:t>
            </a:r>
            <a:endParaRPr lang="ko-KR" altLang="en-US" dirty="0"/>
          </a:p>
          <a:p>
            <a:pPr lvl="1">
              <a:buClrTx/>
            </a:pPr>
            <a:r>
              <a:rPr lang="ko-KR" altLang="en-US" dirty="0"/>
              <a:t>입력 값을 </a:t>
            </a:r>
            <a:r>
              <a:rPr lang="en-US" altLang="ko-KR" dirty="0"/>
              <a:t>0~1</a:t>
            </a:r>
            <a:r>
              <a:rPr lang="ko-KR" altLang="en-US" dirty="0"/>
              <a:t>로 정규화 및 합이 </a:t>
            </a:r>
            <a:r>
              <a:rPr lang="en-US" altLang="ko-KR" dirty="0"/>
              <a:t>1</a:t>
            </a:r>
            <a:r>
              <a:rPr lang="ko-KR" altLang="en-US" dirty="0"/>
              <a:t>이 되도록 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38736-30F1-EFDB-6701-FF96B30C1AE1}"/>
                  </a:ext>
                </a:extLst>
              </p:cNvPr>
              <p:cNvSpPr txBox="1"/>
              <p:nvPr/>
            </p:nvSpPr>
            <p:spPr>
              <a:xfrm>
                <a:off x="6257192" y="1769804"/>
                <a:ext cx="725583" cy="4083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38736-30F1-EFDB-6701-FF96B30C1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192" y="1769804"/>
                <a:ext cx="725583" cy="408317"/>
              </a:xfrm>
              <a:prstGeom prst="rect">
                <a:avLst/>
              </a:prstGeom>
              <a:blipFill>
                <a:blip r:embed="rId3"/>
                <a:stretch>
                  <a:fillRect l="-7563" b="-134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B1A3DA-2BAB-300E-123B-DB62DFC191C0}"/>
                  </a:ext>
                </a:extLst>
              </p:cNvPr>
              <p:cNvSpPr txBox="1"/>
              <p:nvPr/>
            </p:nvSpPr>
            <p:spPr>
              <a:xfrm>
                <a:off x="6213206" y="2615380"/>
                <a:ext cx="813556" cy="418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B1A3DA-2BAB-300E-123B-DB62DFC19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206" y="2615380"/>
                <a:ext cx="813556" cy="418320"/>
              </a:xfrm>
              <a:prstGeom prst="rect">
                <a:avLst/>
              </a:prstGeom>
              <a:blipFill>
                <a:blip r:embed="rId4"/>
                <a:stretch>
                  <a:fillRect l="-4478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118F14-7580-E9FB-F845-150551E51017}"/>
                  </a:ext>
                </a:extLst>
              </p:cNvPr>
              <p:cNvSpPr txBox="1"/>
              <p:nvPr/>
            </p:nvSpPr>
            <p:spPr>
              <a:xfrm>
                <a:off x="6237956" y="3599298"/>
                <a:ext cx="7888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⁡(0,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118F14-7580-E9FB-F845-150551E51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56" y="3599298"/>
                <a:ext cx="788806" cy="215444"/>
              </a:xfrm>
              <a:prstGeom prst="rect">
                <a:avLst/>
              </a:prstGeom>
              <a:blipFill>
                <a:blip r:embed="rId5"/>
                <a:stretch>
                  <a:fillRect l="-4615" r="-3846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7E2D834-A6C9-FBFE-9CBF-61A03A74B6E3}"/>
                  </a:ext>
                </a:extLst>
              </p:cNvPr>
              <p:cNvSpPr txBox="1"/>
              <p:nvPr/>
            </p:nvSpPr>
            <p:spPr>
              <a:xfrm>
                <a:off x="6154265" y="5878444"/>
                <a:ext cx="1087284" cy="4604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7E2D834-A6C9-FBFE-9CBF-61A03A74B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265" y="5878444"/>
                <a:ext cx="1087284" cy="460447"/>
              </a:xfrm>
              <a:prstGeom prst="rect">
                <a:avLst/>
              </a:prstGeom>
              <a:blipFill>
                <a:blip r:embed="rId6"/>
                <a:stretch>
                  <a:fillRect l="-29213" t="-26316" b="-1144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6F0650-8F4C-9146-FB80-8F8EE40F7E8C}"/>
                  </a:ext>
                </a:extLst>
              </p:cNvPr>
              <p:cNvSpPr txBox="1"/>
              <p:nvPr/>
            </p:nvSpPr>
            <p:spPr>
              <a:xfrm>
                <a:off x="6063418" y="4688269"/>
                <a:ext cx="112607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⁡(0.01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6F0650-8F4C-9146-FB80-8F8EE40F7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418" y="4688269"/>
                <a:ext cx="1126077" cy="215444"/>
              </a:xfrm>
              <a:prstGeom prst="rect">
                <a:avLst/>
              </a:prstGeom>
              <a:blipFill>
                <a:blip r:embed="rId7"/>
                <a:stretch>
                  <a:fillRect l="-3804" r="-2717" b="-3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902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5BAF-36E6-44C6-5240-7E786E3C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그림 개체 틀 12">
                <a:extLst>
                  <a:ext uri="{FF2B5EF4-FFF2-40B4-BE49-F238E27FC236}">
                    <a16:creationId xmlns:a16="http://schemas.microsoft.com/office/drawing/2014/main" id="{AEAB9B23-455B-8D9C-09FD-32C3160EF1D3}"/>
                  </a:ext>
                </a:extLst>
              </p:cNvPr>
              <p:cNvSpPr>
                <a:spLocks noGrp="1"/>
              </p:cNvSpPr>
              <p:nvPr>
                <p:ph type="pic" sz="quarter" idx="22"/>
              </p:nvPr>
            </p:nvSpPr>
            <p:spPr>
              <a:xfrm>
                <a:off x="1259762" y="1459566"/>
                <a:ext cx="10729323" cy="5101336"/>
              </a:xfrm>
            </p:spPr>
            <p:txBody>
              <a:bodyPr/>
              <a:lstStyle/>
              <a:p>
                <a:r>
                  <a:rPr lang="en-US" altLang="ko-KR" dirty="0"/>
                  <a:t>MSE(Mean Squared Error)</a:t>
                </a:r>
              </a:p>
              <a:p>
                <a:pPr marL="0" indent="0">
                  <a:buNone/>
                </a:pPr>
                <a:r>
                  <a:rPr lang="en-US" altLang="ko-KR" b="0" dirty="0"/>
                  <a:t>	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dirty="0"/>
              </a:p>
              <a:p>
                <a:pPr lvl="1"/>
                <a:r>
                  <a:rPr lang="ko-KR" altLang="en-US" dirty="0"/>
                  <a:t>실제 값과 예측 값 차이를 제곱하여 평균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CEE(Cross Entropy Error)</a:t>
                </a:r>
              </a:p>
              <a:p>
                <a:pPr marL="0" indent="0">
                  <a:buNone/>
                </a:pPr>
                <a:r>
                  <a:rPr lang="en-US" altLang="ko-KR" b="0" dirty="0"/>
                  <a:t>	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𝐶𝑟𝑜𝑠𝑠𝐸𝑛𝑡𝑟𝑜𝑝𝑦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acc>
                              <m:accPr>
                                <m:chr m:val="̂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func>
                      </m:e>
                    </m:nary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One-hot encoding:</a:t>
                </a:r>
                <a:r>
                  <a:rPr lang="ko-KR" altLang="ko-KR" dirty="0"/>
                  <a:t>범주형 데이터를 해당 범</a:t>
                </a:r>
                <a:r>
                  <a:rPr lang="ko-KR" altLang="en-US" dirty="0"/>
                  <a:t>주만</a:t>
                </a:r>
                <a:r>
                  <a:rPr lang="en-US" altLang="ko-KR" dirty="0"/>
                  <a:t> 1,</a:t>
                </a:r>
                <a:r>
                  <a:rPr lang="ko-KR" altLang="ko-KR" dirty="0"/>
                  <a:t> 나머지는 0인 벡터로 변환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Sigmoid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MSE</a:t>
                </a:r>
                <a:r>
                  <a:rPr lang="ko-KR" altLang="en-US" dirty="0"/>
                  <a:t>의 결합은 복잡한 최적화 지형으로 인해 학습속도가 느려짐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확률분포 차이를 이용해 </a:t>
                </a:r>
                <a:r>
                  <a:rPr lang="en-US" altLang="ko-KR" dirty="0"/>
                  <a:t>sigmoid</a:t>
                </a:r>
                <a:r>
                  <a:rPr lang="ko-KR" altLang="en-US" dirty="0"/>
                  <a:t>의 영향을 덜 받음 </a:t>
                </a:r>
              </a:p>
            </p:txBody>
          </p:sp>
        </mc:Choice>
        <mc:Fallback xmlns="">
          <p:sp>
            <p:nvSpPr>
              <p:cNvPr id="2" name="그림 개체 틀 12">
                <a:extLst>
                  <a:ext uri="{FF2B5EF4-FFF2-40B4-BE49-F238E27FC236}">
                    <a16:creationId xmlns:a16="http://schemas.microsoft.com/office/drawing/2014/main" id="{AEAB9B23-455B-8D9C-09FD-32C3160EF1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22"/>
              </p:nvPr>
            </p:nvSpPr>
            <p:spPr>
              <a:xfrm>
                <a:off x="1259762" y="1459566"/>
                <a:ext cx="10729323" cy="510133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613094-41CD-1AFA-3837-F45243C9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417175CF-0FC7-CD19-1341-71A6A6F9E0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1673" y="1299924"/>
            <a:ext cx="962123" cy="320088"/>
          </a:xfrm>
        </p:spPr>
        <p:txBody>
          <a:bodyPr/>
          <a:lstStyle/>
          <a:p>
            <a:r>
              <a:rPr lang="ko-KR" altLang="en-US" dirty="0"/>
              <a:t>손실 함수</a:t>
            </a: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3C221C69-865E-25EA-B010-E8071A6F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딥러닝 구조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3F95C30-EEAC-8EEE-B899-F1327B8CC8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활성함수와 손실함수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01C8F16-2467-737B-1324-DDFFFEC9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59" r="5716"/>
          <a:stretch>
            <a:fillRect/>
          </a:stretch>
        </p:blipFill>
        <p:spPr>
          <a:xfrm>
            <a:off x="7703574" y="1620012"/>
            <a:ext cx="3490452" cy="226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1F900C4-EA0A-1F3D-D7D7-C85636854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818" y="3750355"/>
            <a:ext cx="4144920" cy="236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7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47379-99DC-A5A2-18BB-BC2140A3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A86AFAEF-70A1-F401-8452-24DF63B29B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50885" y="2238283"/>
            <a:ext cx="10738200" cy="432000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FBD9C-0E60-A90C-1A8B-8E60F542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4C6FE589-6E72-2554-8D27-7DEF0CF655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1673" y="2125543"/>
            <a:ext cx="1500732" cy="320088"/>
          </a:xfrm>
        </p:spPr>
        <p:txBody>
          <a:bodyPr/>
          <a:lstStyle/>
          <a:p>
            <a:r>
              <a:rPr lang="ko-KR" altLang="en-US"/>
              <a:t>딥러닝 학습과정</a:t>
            </a:r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5426CA9F-A28D-05D4-7432-063DF6D7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딥러닝 학습과정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3730E2C7-7510-A7FA-E90A-B36BC5B57C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Forward Propagation</a:t>
            </a:r>
            <a:r>
              <a:rPr lang="ko-KR" altLang="en-US" dirty="0"/>
              <a:t>과 </a:t>
            </a:r>
            <a:r>
              <a:rPr lang="en-US" altLang="ko-KR" dirty="0"/>
              <a:t>Backward Propagation</a:t>
            </a:r>
            <a:endParaRPr lang="ko-KR" altLang="en-US" dirty="0"/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E328B0F5-E1A2-631B-8DA8-61FDDEE0B35C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en-US" altLang="ko-KR" dirty="0"/>
              <a:t>Forward propagation</a:t>
            </a:r>
            <a:r>
              <a:rPr lang="ko-KR" altLang="en-US" dirty="0"/>
              <a:t> 결과의 </a:t>
            </a:r>
            <a:r>
              <a:rPr lang="en-US" altLang="ko-KR" dirty="0"/>
              <a:t>loss function</a:t>
            </a:r>
            <a:r>
              <a:rPr lang="ko-KR" altLang="en-US" dirty="0"/>
              <a:t>을 최소화하도록 </a:t>
            </a:r>
            <a:r>
              <a:rPr lang="en-US" altLang="ko-KR" dirty="0"/>
              <a:t>parameter</a:t>
            </a:r>
            <a:r>
              <a:rPr lang="ko-KR" altLang="en-US" dirty="0"/>
              <a:t>를 수정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EC8A3B4-B074-DD2B-A134-94C8991A9D02}"/>
              </a:ext>
            </a:extLst>
          </p:cNvPr>
          <p:cNvCxnSpPr/>
          <p:nvPr/>
        </p:nvCxnSpPr>
        <p:spPr>
          <a:xfrm>
            <a:off x="2943379" y="4948612"/>
            <a:ext cx="531532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1ABA4FCA-DDAB-1A5A-A385-C2C9C35840DB}"/>
              </a:ext>
            </a:extLst>
          </p:cNvPr>
          <p:cNvCxnSpPr>
            <a:cxnSpLocks/>
          </p:cNvCxnSpPr>
          <p:nvPr/>
        </p:nvCxnSpPr>
        <p:spPr>
          <a:xfrm flipH="1">
            <a:off x="2925380" y="5815119"/>
            <a:ext cx="533332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5D52878-6D48-6DD6-F039-768C03ECF1C8}"/>
                  </a:ext>
                </a:extLst>
              </p:cNvPr>
              <p:cNvSpPr txBox="1"/>
              <p:nvPr/>
            </p:nvSpPr>
            <p:spPr>
              <a:xfrm>
                <a:off x="3950620" y="5032966"/>
                <a:ext cx="32828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𝑋</m:t>
                    </m:r>
                  </m:oMath>
                </a14:m>
                <a:r>
                  <a:rPr lang="ko-KR" altLang="en-US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값 입력 </a:t>
                </a:r>
                <a:r>
                  <a:rPr lang="en-US" altLang="ko-KR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𝑦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계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산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)</m:t>
                    </m:r>
                  </m:oMath>
                </a14:m>
                <a:endParaRPr lang="en-US" altLang="ko-KR" b="0" i="1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5D52878-6D48-6DD6-F039-768C03ECF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620" y="5032966"/>
                <a:ext cx="3282844" cy="307777"/>
              </a:xfrm>
              <a:prstGeom prst="rect">
                <a:avLst/>
              </a:prstGeom>
              <a:blipFill>
                <a:blip r:embed="rId2"/>
                <a:stretch>
                  <a:fillRect t="-2000" b="-2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AC808B9-CB75-0CB3-70ED-56BEEBD53DED}"/>
                  </a:ext>
                </a:extLst>
              </p:cNvPr>
              <p:cNvSpPr txBox="1"/>
              <p:nvPr/>
            </p:nvSpPr>
            <p:spPr>
              <a:xfrm>
                <a:off x="3739399" y="5854948"/>
                <a:ext cx="37232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3.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𝑤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𝑏</m:t>
                    </m:r>
                  </m:oMath>
                </a14:m>
                <a:r>
                  <a:rPr lang="ko-KR" altLang="en-US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에 대한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𝐿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𝑦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) </m:t>
                    </m:r>
                  </m:oMath>
                </a14:m>
                <a:r>
                  <a:rPr lang="ko-KR" altLang="en-US" dirty="0" err="1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편미분</a:t>
                </a:r>
                <a:endParaRPr lang="ko-KR" altLang="en-US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AC808B9-CB75-0CB3-70ED-56BEEBD53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399" y="5854948"/>
                <a:ext cx="3723286" cy="307777"/>
              </a:xfrm>
              <a:prstGeom prst="rect">
                <a:avLst/>
              </a:prstGeom>
              <a:blipFill>
                <a:blip r:embed="rId3"/>
                <a:stretch>
                  <a:fillRect b="-21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2E6199E-821A-8A11-8A35-71E941A0257D}"/>
                  </a:ext>
                </a:extLst>
              </p:cNvPr>
              <p:cNvSpPr txBox="1"/>
              <p:nvPr/>
            </p:nvSpPr>
            <p:spPr>
              <a:xfrm>
                <a:off x="3337470" y="6244343"/>
                <a:ext cx="45271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4. 3</a:t>
                </a:r>
                <a:r>
                  <a:rPr lang="ko-KR" altLang="en-US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의 값을 이용한 </a:t>
                </a:r>
                <a:r>
                  <a:rPr lang="en-US" altLang="ko-KR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optimizer</a:t>
                </a:r>
                <a:r>
                  <a:rPr lang="ko-KR" altLang="en-US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𝑤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𝑏</m:t>
                    </m:r>
                  </m:oMath>
                </a14:m>
                <a:r>
                  <a:rPr lang="en-US" altLang="ko-KR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</a:t>
                </a:r>
                <a:r>
                  <a:rPr lang="ko-KR" altLang="en-US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수정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2E6199E-821A-8A11-8A35-71E941A02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470" y="6244343"/>
                <a:ext cx="4527144" cy="307777"/>
              </a:xfrm>
              <a:prstGeom prst="rect">
                <a:avLst/>
              </a:prstGeom>
              <a:blipFill>
                <a:blip r:embed="rId4"/>
                <a:stretch>
                  <a:fillRect b="-21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타원 62">
            <a:extLst>
              <a:ext uri="{FF2B5EF4-FFF2-40B4-BE49-F238E27FC236}">
                <a16:creationId xmlns:a16="http://schemas.microsoft.com/office/drawing/2014/main" id="{C978F6BF-CDB9-D843-1275-53F7EB222421}"/>
              </a:ext>
            </a:extLst>
          </p:cNvPr>
          <p:cNvSpPr/>
          <p:nvPr/>
        </p:nvSpPr>
        <p:spPr>
          <a:xfrm>
            <a:off x="2429354" y="3137599"/>
            <a:ext cx="896619" cy="9245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15BC32F3-0974-AEA3-DCA6-6C155B5467D7}"/>
              </a:ext>
            </a:extLst>
          </p:cNvPr>
          <p:cNvSpPr/>
          <p:nvPr/>
        </p:nvSpPr>
        <p:spPr>
          <a:xfrm>
            <a:off x="3746778" y="2407679"/>
            <a:ext cx="896619" cy="9245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10E77C80-0A79-B5F6-E00E-5A080F19EBBC}"/>
              </a:ext>
            </a:extLst>
          </p:cNvPr>
          <p:cNvSpPr/>
          <p:nvPr/>
        </p:nvSpPr>
        <p:spPr>
          <a:xfrm>
            <a:off x="3746778" y="3906880"/>
            <a:ext cx="896619" cy="9245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D4C44BC0-D456-8620-AC69-0A6A6A7739EB}"/>
              </a:ext>
            </a:extLst>
          </p:cNvPr>
          <p:cNvSpPr/>
          <p:nvPr/>
        </p:nvSpPr>
        <p:spPr>
          <a:xfrm>
            <a:off x="5484725" y="3906880"/>
            <a:ext cx="896619" cy="9245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8139E1FE-0EEC-E4C5-983B-BA01A63FE6BB}"/>
              </a:ext>
            </a:extLst>
          </p:cNvPr>
          <p:cNvSpPr/>
          <p:nvPr/>
        </p:nvSpPr>
        <p:spPr>
          <a:xfrm>
            <a:off x="5484725" y="2407679"/>
            <a:ext cx="896619" cy="9245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12CB7F51-AB81-A371-2220-9FB95C0F7E6B}"/>
              </a:ext>
            </a:extLst>
          </p:cNvPr>
          <p:cNvSpPr/>
          <p:nvPr/>
        </p:nvSpPr>
        <p:spPr>
          <a:xfrm>
            <a:off x="6685874" y="3092417"/>
            <a:ext cx="896619" cy="9245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C4A13F55-8A2F-C2D8-47D8-12EA81C013E0}"/>
              </a:ext>
            </a:extLst>
          </p:cNvPr>
          <p:cNvSpPr/>
          <p:nvPr/>
        </p:nvSpPr>
        <p:spPr>
          <a:xfrm>
            <a:off x="7878105" y="3092417"/>
            <a:ext cx="896619" cy="9245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A85E9CD-C80B-F4D5-CFB6-AE27C86EC0AD}"/>
              </a:ext>
            </a:extLst>
          </p:cNvPr>
          <p:cNvCxnSpPr>
            <a:cxnSpLocks/>
            <a:stCxn id="63" idx="6"/>
            <a:endCxn id="64" idx="2"/>
          </p:cNvCxnSpPr>
          <p:nvPr/>
        </p:nvCxnSpPr>
        <p:spPr>
          <a:xfrm flipV="1">
            <a:off x="3325973" y="2869959"/>
            <a:ext cx="420805" cy="7299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6793BD2-39DD-3AD9-16DD-FEF312E5B0B0}"/>
              </a:ext>
            </a:extLst>
          </p:cNvPr>
          <p:cNvCxnSpPr>
            <a:cxnSpLocks/>
            <a:stCxn id="63" idx="6"/>
            <a:endCxn id="65" idx="2"/>
          </p:cNvCxnSpPr>
          <p:nvPr/>
        </p:nvCxnSpPr>
        <p:spPr>
          <a:xfrm>
            <a:off x="3325973" y="3599879"/>
            <a:ext cx="420805" cy="7692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2B91E559-3A86-C9AD-95C0-075F44C0A1A6}"/>
              </a:ext>
            </a:extLst>
          </p:cNvPr>
          <p:cNvCxnSpPr>
            <a:cxnSpLocks/>
            <a:stCxn id="64" idx="6"/>
            <a:endCxn id="67" idx="2"/>
          </p:cNvCxnSpPr>
          <p:nvPr/>
        </p:nvCxnSpPr>
        <p:spPr>
          <a:xfrm>
            <a:off x="4643397" y="2869959"/>
            <a:ext cx="8413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B0FADC2-43D3-E4B7-0090-E9516B1E1491}"/>
              </a:ext>
            </a:extLst>
          </p:cNvPr>
          <p:cNvCxnSpPr>
            <a:cxnSpLocks/>
            <a:stCxn id="67" idx="6"/>
            <a:endCxn id="68" idx="2"/>
          </p:cNvCxnSpPr>
          <p:nvPr/>
        </p:nvCxnSpPr>
        <p:spPr>
          <a:xfrm>
            <a:off x="6381344" y="2869959"/>
            <a:ext cx="304530" cy="684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B2FDD92-A1C7-8472-8ED9-6B02A58F0E71}"/>
              </a:ext>
            </a:extLst>
          </p:cNvPr>
          <p:cNvCxnSpPr>
            <a:cxnSpLocks/>
            <a:stCxn id="65" idx="6"/>
            <a:endCxn id="67" idx="2"/>
          </p:cNvCxnSpPr>
          <p:nvPr/>
        </p:nvCxnSpPr>
        <p:spPr>
          <a:xfrm flipV="1">
            <a:off x="4643397" y="2869959"/>
            <a:ext cx="841328" cy="1499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9456A75D-6884-4C39-3C89-D9E90E7305ED}"/>
              </a:ext>
            </a:extLst>
          </p:cNvPr>
          <p:cNvCxnSpPr>
            <a:cxnSpLocks/>
            <a:stCxn id="64" idx="6"/>
            <a:endCxn id="66" idx="2"/>
          </p:cNvCxnSpPr>
          <p:nvPr/>
        </p:nvCxnSpPr>
        <p:spPr>
          <a:xfrm>
            <a:off x="4643397" y="2869959"/>
            <a:ext cx="841328" cy="1499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A4C4F10-4CC7-C883-9485-F023C04B377A}"/>
              </a:ext>
            </a:extLst>
          </p:cNvPr>
          <p:cNvCxnSpPr>
            <a:cxnSpLocks/>
            <a:stCxn id="65" idx="6"/>
            <a:endCxn id="66" idx="2"/>
          </p:cNvCxnSpPr>
          <p:nvPr/>
        </p:nvCxnSpPr>
        <p:spPr>
          <a:xfrm>
            <a:off x="4643397" y="4369160"/>
            <a:ext cx="8413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C84D633-E47E-448A-3682-D3A0AC4FCFF6}"/>
              </a:ext>
            </a:extLst>
          </p:cNvPr>
          <p:cNvCxnSpPr>
            <a:cxnSpLocks/>
            <a:stCxn id="66" idx="6"/>
            <a:endCxn id="68" idx="2"/>
          </p:cNvCxnSpPr>
          <p:nvPr/>
        </p:nvCxnSpPr>
        <p:spPr>
          <a:xfrm flipV="1">
            <a:off x="6381344" y="3554697"/>
            <a:ext cx="304530" cy="814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69986E2-DA28-FDDC-67DF-015EF5D0489F}"/>
              </a:ext>
            </a:extLst>
          </p:cNvPr>
          <p:cNvCxnSpPr>
            <a:cxnSpLocks/>
            <a:stCxn id="68" idx="6"/>
            <a:endCxn id="69" idx="2"/>
          </p:cNvCxnSpPr>
          <p:nvPr/>
        </p:nvCxnSpPr>
        <p:spPr>
          <a:xfrm>
            <a:off x="7582493" y="3554697"/>
            <a:ext cx="2956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C2E88A3-E240-4DBA-2523-D8A6F9BF56D2}"/>
              </a:ext>
            </a:extLst>
          </p:cNvPr>
          <p:cNvSpPr txBox="1"/>
          <p:nvPr/>
        </p:nvSpPr>
        <p:spPr>
          <a:xfrm>
            <a:off x="2474683" y="2379423"/>
            <a:ext cx="805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Input</a:t>
            </a:r>
            <a:endParaRPr lang="ko-KR" altLang="en-US" sz="12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7F67F0-2080-3F88-4944-B8A1EFB2C4D6}"/>
              </a:ext>
            </a:extLst>
          </p:cNvPr>
          <p:cNvSpPr txBox="1"/>
          <p:nvPr/>
        </p:nvSpPr>
        <p:spPr>
          <a:xfrm>
            <a:off x="6578585" y="2401381"/>
            <a:ext cx="1210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Output</a:t>
            </a:r>
            <a:endParaRPr lang="ko-KR" altLang="en-US" sz="12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659275-1497-35FB-F28B-C1379640B483}"/>
              </a:ext>
            </a:extLst>
          </p:cNvPr>
          <p:cNvSpPr txBox="1"/>
          <p:nvPr/>
        </p:nvSpPr>
        <p:spPr>
          <a:xfrm>
            <a:off x="3544042" y="2401381"/>
            <a:ext cx="3041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Hidden layers</a:t>
            </a:r>
            <a:endParaRPr lang="ko-KR" altLang="en-US" sz="12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B3D712C-8393-7B5F-0AF8-2795DA0C7CF0}"/>
                  </a:ext>
                </a:extLst>
              </p:cNvPr>
              <p:cNvSpPr txBox="1"/>
              <p:nvPr/>
            </p:nvSpPr>
            <p:spPr>
              <a:xfrm>
                <a:off x="2494347" y="3434877"/>
                <a:ext cx="8059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B3D712C-8393-7B5F-0AF8-2795DA0C7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347" y="3434877"/>
                <a:ext cx="80596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2F8218F-E5A8-C596-4324-E1D2BB794943}"/>
                  </a:ext>
                </a:extLst>
              </p:cNvPr>
              <p:cNvSpPr txBox="1"/>
              <p:nvPr/>
            </p:nvSpPr>
            <p:spPr>
              <a:xfrm>
                <a:off x="6756869" y="3389695"/>
                <a:ext cx="8059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2F8218F-E5A8-C596-4324-E1D2BB794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869" y="3389695"/>
                <a:ext cx="80596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1001D604-964D-0D91-F83D-784E776D40DB}"/>
              </a:ext>
            </a:extLst>
          </p:cNvPr>
          <p:cNvCxnSpPr>
            <a:cxnSpLocks/>
            <a:stCxn id="64" idx="0"/>
            <a:endCxn id="64" idx="4"/>
          </p:cNvCxnSpPr>
          <p:nvPr/>
        </p:nvCxnSpPr>
        <p:spPr>
          <a:xfrm>
            <a:off x="4195088" y="2407679"/>
            <a:ext cx="0" cy="9245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CEC1692-21B5-44B7-10C1-0DC0ABD60483}"/>
              </a:ext>
            </a:extLst>
          </p:cNvPr>
          <p:cNvCxnSpPr>
            <a:cxnSpLocks/>
            <a:stCxn id="67" idx="0"/>
            <a:endCxn id="67" idx="4"/>
          </p:cNvCxnSpPr>
          <p:nvPr/>
        </p:nvCxnSpPr>
        <p:spPr>
          <a:xfrm>
            <a:off x="5933035" y="2407679"/>
            <a:ext cx="0" cy="9245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CE862F35-9143-8C7C-3BE7-DBD870F012AF}"/>
              </a:ext>
            </a:extLst>
          </p:cNvPr>
          <p:cNvCxnSpPr>
            <a:cxnSpLocks/>
            <a:stCxn id="65" idx="0"/>
            <a:endCxn id="65" idx="4"/>
          </p:cNvCxnSpPr>
          <p:nvPr/>
        </p:nvCxnSpPr>
        <p:spPr>
          <a:xfrm>
            <a:off x="4195088" y="3906880"/>
            <a:ext cx="0" cy="9245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4B43E101-8CB0-9BAC-C091-8EFC3A291DDA}"/>
              </a:ext>
            </a:extLst>
          </p:cNvPr>
          <p:cNvCxnSpPr>
            <a:cxnSpLocks/>
            <a:stCxn id="66" idx="0"/>
            <a:endCxn id="66" idx="4"/>
          </p:cNvCxnSpPr>
          <p:nvPr/>
        </p:nvCxnSpPr>
        <p:spPr>
          <a:xfrm>
            <a:off x="5933035" y="3906880"/>
            <a:ext cx="0" cy="9245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3555194-7656-A0C2-9F0D-91C3059AC296}"/>
                  </a:ext>
                </a:extLst>
              </p:cNvPr>
              <p:cNvSpPr txBox="1"/>
              <p:nvPr/>
            </p:nvSpPr>
            <p:spPr>
              <a:xfrm>
                <a:off x="3620624" y="2721396"/>
                <a:ext cx="805960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ko-KR" altLang="en-US" sz="11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3555194-7656-A0C2-9F0D-91C3059AC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24" y="2721396"/>
                <a:ext cx="805960" cy="2725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01A4719-50D3-E69F-AE52-C7BE9D589BEB}"/>
                  </a:ext>
                </a:extLst>
              </p:cNvPr>
              <p:cNvSpPr txBox="1"/>
              <p:nvPr/>
            </p:nvSpPr>
            <p:spPr>
              <a:xfrm>
                <a:off x="3620624" y="4253554"/>
                <a:ext cx="805960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ko-KR" altLang="en-US" sz="11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01A4719-50D3-E69F-AE52-C7BE9D589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24" y="4253554"/>
                <a:ext cx="805960" cy="2725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EBE36E3-FC35-6FAA-FA50-5893648D691E}"/>
                  </a:ext>
                </a:extLst>
              </p:cNvPr>
              <p:cNvSpPr txBox="1"/>
              <p:nvPr/>
            </p:nvSpPr>
            <p:spPr>
              <a:xfrm>
                <a:off x="5359081" y="4260560"/>
                <a:ext cx="805960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ko-KR" altLang="en-US" sz="11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EBE36E3-FC35-6FAA-FA50-5893648D6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081" y="4260560"/>
                <a:ext cx="805960" cy="2725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394B953-06FD-1E86-39BE-586F903EBD94}"/>
                  </a:ext>
                </a:extLst>
              </p:cNvPr>
              <p:cNvSpPr txBox="1"/>
              <p:nvPr/>
            </p:nvSpPr>
            <p:spPr>
              <a:xfrm>
                <a:off x="5359081" y="2714548"/>
                <a:ext cx="805960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ko-KR" altLang="en-US" sz="11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394B953-06FD-1E86-39BE-586F903E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081" y="2714548"/>
                <a:ext cx="805960" cy="2725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32D02EB-30D6-2E31-A9B8-DBBF0C403F0E}"/>
                  </a:ext>
                </a:extLst>
              </p:cNvPr>
              <p:cNvSpPr txBox="1"/>
              <p:nvPr/>
            </p:nvSpPr>
            <p:spPr>
              <a:xfrm>
                <a:off x="7966753" y="3389951"/>
                <a:ext cx="8059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dirty="0"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L(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32D02EB-30D6-2E31-A9B8-DBBF0C403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753" y="3389951"/>
                <a:ext cx="805960" cy="369332"/>
              </a:xfrm>
              <a:prstGeom prst="rect">
                <a:avLst/>
              </a:prstGeom>
              <a:blipFill>
                <a:blip r:embed="rId11"/>
                <a:stretch>
                  <a:fillRect t="-3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DE5AFED-2DBB-83EF-24B4-DD1EED28AE46}"/>
                  </a:ext>
                </a:extLst>
              </p:cNvPr>
              <p:cNvSpPr txBox="1"/>
              <p:nvPr/>
            </p:nvSpPr>
            <p:spPr>
              <a:xfrm>
                <a:off x="4022143" y="2721396"/>
                <a:ext cx="805960" cy="441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  <a:p>
                <a:pPr algn="ctr"/>
                <a:endParaRPr lang="ko-KR" altLang="en-US" sz="11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DE5AFED-2DBB-83EF-24B4-DD1EED28A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143" y="2721396"/>
                <a:ext cx="805960" cy="4417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49AD74F-2695-15CB-0FEE-5D8766D2A2DA}"/>
                  </a:ext>
                </a:extLst>
              </p:cNvPr>
              <p:cNvSpPr txBox="1"/>
              <p:nvPr/>
            </p:nvSpPr>
            <p:spPr>
              <a:xfrm>
                <a:off x="5793538" y="2721396"/>
                <a:ext cx="805960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49AD74F-2695-15CB-0FEE-5D8766D2A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538" y="2721396"/>
                <a:ext cx="805960" cy="272510"/>
              </a:xfrm>
              <a:prstGeom prst="rect">
                <a:avLst/>
              </a:prstGeom>
              <a:blipFill>
                <a:blip r:embed="rId1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2BBD1B5-03B6-96CA-DC45-3953B0D6F833}"/>
                  </a:ext>
                </a:extLst>
              </p:cNvPr>
              <p:cNvSpPr txBox="1"/>
              <p:nvPr/>
            </p:nvSpPr>
            <p:spPr>
              <a:xfrm>
                <a:off x="5793538" y="4241965"/>
                <a:ext cx="805960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2BBD1B5-03B6-96CA-DC45-3953B0D6F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538" y="4241965"/>
                <a:ext cx="805960" cy="272510"/>
              </a:xfrm>
              <a:prstGeom prst="rect">
                <a:avLst/>
              </a:prstGeom>
              <a:blipFill>
                <a:blip r:embed="rId1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8D85C8A-5100-4E0B-C6BD-D290E3C970A4}"/>
                  </a:ext>
                </a:extLst>
              </p:cNvPr>
              <p:cNvSpPr txBox="1"/>
              <p:nvPr/>
            </p:nvSpPr>
            <p:spPr>
              <a:xfrm>
                <a:off x="4053316" y="4241965"/>
                <a:ext cx="805960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8D85C8A-5100-4E0B-C6BD-D290E3C97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316" y="4241965"/>
                <a:ext cx="805960" cy="272510"/>
              </a:xfrm>
              <a:prstGeom prst="rect">
                <a:avLst/>
              </a:prstGeom>
              <a:blipFill>
                <a:blip r:embed="rId15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A9B05596-D093-C22C-E6B4-8EFF5426BF90}"/>
              </a:ext>
            </a:extLst>
          </p:cNvPr>
          <p:cNvSpPr txBox="1"/>
          <p:nvPr/>
        </p:nvSpPr>
        <p:spPr>
          <a:xfrm>
            <a:off x="7720940" y="2420795"/>
            <a:ext cx="1210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Loss function</a:t>
            </a:r>
            <a:endParaRPr lang="ko-KR" altLang="en-US" sz="12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B17ACDD-BC90-BA05-C525-11E4C84966D8}"/>
                  </a:ext>
                </a:extLst>
              </p:cNvPr>
              <p:cNvSpPr txBox="1"/>
              <p:nvPr/>
            </p:nvSpPr>
            <p:spPr>
              <a:xfrm>
                <a:off x="3141255" y="2918041"/>
                <a:ext cx="6280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B17ACDD-BC90-BA05-C525-11E4C8496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255" y="2918041"/>
                <a:ext cx="62801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E65A0A4-A3AE-148C-F99A-C6269AB6910C}"/>
                  </a:ext>
                </a:extLst>
              </p:cNvPr>
              <p:cNvSpPr txBox="1"/>
              <p:nvPr/>
            </p:nvSpPr>
            <p:spPr>
              <a:xfrm>
                <a:off x="2222090" y="5324660"/>
                <a:ext cx="6646606" cy="33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dirty="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2.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손실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함수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  <a:ea typeface="나눔스퀘어 네오 Regular" panose="00000500000000000000" pitchFamily="2" charset="-127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  <a:ea typeface="나눔스퀘어 네오 Regular" panose="00000500000000000000" pitchFamily="2" charset="-127"/>
                          </a:rPr>
                          <m:t>𝐿</m:t>
                        </m:r>
                        <m:d>
                          <m:d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ea typeface="나눔스퀘어 네오 Regular" panose="00000500000000000000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나눔스퀘어 네오 Regular" panose="00000500000000000000" pitchFamily="2" charset="-127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  <a:ea typeface="나눔스퀘어 네오 Regular" panose="00000500000000000000" pitchFamily="2" charset="-127"/>
                      </a:rPr>
                      <m:t>계산</m:t>
                    </m:r>
                  </m:oMath>
                </a14:m>
                <a:endParaRPr lang="ko-KR" altLang="en-US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E65A0A4-A3AE-148C-F99A-C6269AB69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090" y="5324660"/>
                <a:ext cx="6646606" cy="335476"/>
              </a:xfrm>
              <a:prstGeom prst="rect">
                <a:avLst/>
              </a:prstGeom>
              <a:blipFill>
                <a:blip r:embed="rId17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BAC03301-9403-94AE-D37E-8A940FDDB494}"/>
              </a:ext>
            </a:extLst>
          </p:cNvPr>
          <p:cNvSpPr txBox="1"/>
          <p:nvPr/>
        </p:nvSpPr>
        <p:spPr>
          <a:xfrm>
            <a:off x="8379565" y="5023028"/>
            <a:ext cx="328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순방향 전파</a:t>
            </a:r>
            <a:endParaRPr lang="en-US" altLang="ko-KR" b="0" i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4697EDB-E947-2759-DCA2-BCFE6F7806E0}"/>
              </a:ext>
            </a:extLst>
          </p:cNvPr>
          <p:cNvSpPr txBox="1"/>
          <p:nvPr/>
        </p:nvSpPr>
        <p:spPr>
          <a:xfrm>
            <a:off x="8379565" y="5355140"/>
            <a:ext cx="328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손실 함수</a:t>
            </a:r>
            <a:endParaRPr lang="en-US" altLang="ko-KR" b="0" i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1B5CE7E-679A-983B-404C-4D1B4463E078}"/>
              </a:ext>
            </a:extLst>
          </p:cNvPr>
          <p:cNvSpPr txBox="1"/>
          <p:nvPr/>
        </p:nvSpPr>
        <p:spPr>
          <a:xfrm>
            <a:off x="8379565" y="5840643"/>
            <a:ext cx="328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역전파</a:t>
            </a:r>
            <a:endParaRPr lang="en-US" altLang="ko-KR" b="0" i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E661370-8DB2-C435-DF3D-24781E2A671A}"/>
              </a:ext>
            </a:extLst>
          </p:cNvPr>
          <p:cNvSpPr txBox="1"/>
          <p:nvPr/>
        </p:nvSpPr>
        <p:spPr>
          <a:xfrm>
            <a:off x="8379565" y="6212602"/>
            <a:ext cx="328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학습</a:t>
            </a:r>
            <a:endParaRPr lang="en-US" altLang="ko-KR" b="0" i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12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EDF7-B285-7B11-DB41-909EE850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11">
            <a:extLst>
              <a:ext uri="{FF2B5EF4-FFF2-40B4-BE49-F238E27FC236}">
                <a16:creationId xmlns:a16="http://schemas.microsoft.com/office/drawing/2014/main" id="{B9DECBE2-B6FB-737F-5AA3-B4FA190DC224}"/>
              </a:ext>
            </a:extLst>
          </p:cNvPr>
          <p:cNvSpPr txBox="1">
            <a:spLocks/>
          </p:cNvSpPr>
          <p:nvPr/>
        </p:nvSpPr>
        <p:spPr>
          <a:xfrm>
            <a:off x="4904018" y="2526282"/>
            <a:ext cx="3240000" cy="4032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vert="horz" lIns="91440" tIns="18000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16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1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r>
              <a:rPr lang="ko-KR" altLang="en-US" dirty="0"/>
              <a:t>해결책</a:t>
            </a:r>
            <a:r>
              <a:rPr lang="en-US" altLang="ko-KR" dirty="0"/>
              <a:t>: </a:t>
            </a:r>
            <a:r>
              <a:rPr lang="ko-KR" altLang="en-US" dirty="0"/>
              <a:t>적절한 활성함수 선택</a:t>
            </a:r>
            <a:endParaRPr lang="en-US" altLang="ko-KR" dirty="0"/>
          </a:p>
          <a:p>
            <a:pPr lvl="1">
              <a:buClrTx/>
            </a:pPr>
            <a:r>
              <a:rPr lang="en-US" altLang="ko-KR" dirty="0"/>
              <a:t>Sigmoid </a:t>
            </a:r>
            <a:r>
              <a:rPr lang="ko-KR" altLang="en-US" dirty="0"/>
              <a:t>대신 </a:t>
            </a: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그림 개체 틀 11">
                <a:extLst>
                  <a:ext uri="{FF2B5EF4-FFF2-40B4-BE49-F238E27FC236}">
                    <a16:creationId xmlns:a16="http://schemas.microsoft.com/office/drawing/2014/main" id="{5D7F0FEB-6FD3-734B-9A04-3214F0B4F7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57151" y="2526282"/>
                <a:ext cx="3240000" cy="4032000"/>
              </a:xfrm>
              <a:prstGeom prst="roundRect">
                <a:avLst>
                  <a:gd name="adj" fmla="val 7818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txBody>
              <a:bodyPr vert="horz" lIns="91440" tIns="18000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1600" kern="120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lvl1pPr>
                <a:lvl2pPr marL="540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None/>
                  <a:defRPr sz="1200" kern="120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None/>
                  <a:defRPr sz="1100" kern="120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endParaRPr lang="en-US" altLang="ko-KR" dirty="0"/>
              </a:p>
              <a:p>
                <a:pPr>
                  <a:buClrTx/>
                </a:pPr>
                <a:endParaRPr lang="en-US" altLang="ko-KR" dirty="0"/>
              </a:p>
              <a:p>
                <a:pPr>
                  <a:buClrTx/>
                </a:pPr>
                <a:endParaRPr lang="en-US" altLang="ko-KR" dirty="0"/>
              </a:p>
              <a:p>
                <a:pPr>
                  <a:buClrTx/>
                </a:pPr>
                <a:endParaRPr lang="en-US" altLang="ko-KR" dirty="0"/>
              </a:p>
              <a:p>
                <a:pPr>
                  <a:buClrTx/>
                </a:pPr>
                <a:endParaRPr lang="en-US" altLang="ko-KR" dirty="0"/>
              </a:p>
              <a:p>
                <a:pPr>
                  <a:buClrTx/>
                </a:pPr>
                <a:endParaRPr lang="en-US" altLang="ko-KR" dirty="0"/>
              </a:p>
              <a:p>
                <a:pPr>
                  <a:buClrTx/>
                </a:pPr>
                <a:endParaRPr lang="en-US" altLang="ko-KR" dirty="0"/>
              </a:p>
              <a:p>
                <a:pPr>
                  <a:buClrTx/>
                </a:pPr>
                <a:r>
                  <a:rPr lang="ko-KR" altLang="en-US" dirty="0"/>
                  <a:t>해결책</a:t>
                </a:r>
                <a:r>
                  <a:rPr lang="en-US" altLang="ko-KR" dirty="0"/>
                  <a:t>: </a:t>
                </a:r>
                <a:r>
                  <a:rPr lang="ko-KR" altLang="ko-KR" dirty="0" err="1"/>
                  <a:t>Res</a:t>
                </a:r>
                <a:r>
                  <a:rPr lang="en-US" altLang="ko-KR" dirty="0"/>
                  <a:t>Net</a:t>
                </a:r>
                <a:endParaRPr lang="ko-KR" altLang="ko-KR" dirty="0"/>
              </a:p>
              <a:p>
                <a:pPr lvl="1">
                  <a:buClrTx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개의 블록을 묶은 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출력을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형</m:t>
                    </m:r>
                  </m:oMath>
                </a14:m>
                <a:r>
                  <a:rPr lang="ko-KR" altLang="en-US" dirty="0"/>
                  <a:t>태로 변환</a:t>
                </a:r>
                <a:endParaRPr lang="en-US" altLang="ko-KR" dirty="0"/>
              </a:p>
              <a:p>
                <a:pPr lvl="1">
                  <a:buClrTx/>
                </a:pPr>
                <a:r>
                  <a:rPr lang="ko-KR" altLang="en-US" dirty="0"/>
                  <a:t>불필요한 층에서 </a:t>
                </a:r>
                <a:r>
                  <a:rPr lang="en-US" altLang="ko-KR" dirty="0"/>
                  <a:t>identity mapping </a:t>
                </a:r>
                <a:r>
                  <a:rPr lang="ko-KR" altLang="en-US" dirty="0"/>
                  <a:t>실행</a:t>
                </a:r>
                <a:r>
                  <a:rPr lang="en-US" altLang="ko-KR" dirty="0"/>
                  <a:t> </a:t>
                </a:r>
              </a:p>
            </p:txBody>
          </p:sp>
        </mc:Choice>
        <mc:Fallback xmlns="">
          <p:sp>
            <p:nvSpPr>
              <p:cNvPr id="6" name="그림 개체 틀 11">
                <a:extLst>
                  <a:ext uri="{FF2B5EF4-FFF2-40B4-BE49-F238E27FC236}">
                    <a16:creationId xmlns:a16="http://schemas.microsoft.com/office/drawing/2014/main" id="{5D7F0FEB-6FD3-734B-9A04-3214F0B4F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151" y="2526282"/>
                <a:ext cx="3240000" cy="4032000"/>
              </a:xfrm>
              <a:prstGeom prst="roundRect">
                <a:avLst>
                  <a:gd name="adj" fmla="val 7818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98989E18-C0FC-DA8B-4A89-C08765821CE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50885" y="2526282"/>
            <a:ext cx="3240000" cy="4032000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해결책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Drop Out</a:t>
            </a:r>
          </a:p>
          <a:p>
            <a:pPr lvl="1"/>
            <a:r>
              <a:rPr lang="ko-KR" altLang="en-US" dirty="0"/>
              <a:t>반복별 무작위 노드 제외해 학습</a:t>
            </a:r>
            <a:endParaRPr lang="en-US" altLang="ko-KR" dirty="0"/>
          </a:p>
          <a:p>
            <a:pPr lvl="1"/>
            <a:r>
              <a:rPr lang="ko-KR" altLang="en-US" dirty="0"/>
              <a:t>뉴런의 동조화 방지</a:t>
            </a:r>
            <a:endParaRPr lang="en-US" altLang="ko-KR" dirty="0"/>
          </a:p>
          <a:p>
            <a:pPr lvl="1"/>
            <a:r>
              <a:rPr lang="en-US" altLang="ko-KR" dirty="0"/>
              <a:t>Ensemble </a:t>
            </a:r>
            <a:r>
              <a:rPr lang="ko-KR" altLang="en-US" dirty="0"/>
              <a:t>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7F55A0-4A20-C86E-F051-4DFDD3845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pPr/>
              <a:t>7</a:t>
            </a:fld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69092F6-6953-DACB-2EF7-C4CC74B245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1673" y="2378322"/>
            <a:ext cx="1283878" cy="320088"/>
          </a:xfrm>
        </p:spPr>
        <p:txBody>
          <a:bodyPr/>
          <a:lstStyle/>
          <a:p>
            <a:r>
              <a:rPr lang="en-US" altLang="ko-KR" dirty="0"/>
              <a:t>Over-fitting</a:t>
            </a:r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3637A49B-3A42-57FF-A0D1-33858149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딥러닝 문제점 및 해결방안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BE9BDBE5-9304-EBCC-5702-7D2E27C790B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02836" y="2378322"/>
            <a:ext cx="1914114" cy="320088"/>
          </a:xfrm>
          <a:solidFill>
            <a:schemeClr val="bg1"/>
          </a:solidFill>
        </p:spPr>
        <p:txBody>
          <a:bodyPr/>
          <a:lstStyle/>
          <a:p>
            <a:r>
              <a:rPr lang="en-US" altLang="ko-KR" dirty="0"/>
              <a:t>Vanishing Gradient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2B03EDF7-1A25-C5C7-C3D1-F6BDD2179A0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Hidden</a:t>
            </a:r>
            <a:r>
              <a:rPr lang="ko-KR" altLang="en-US" dirty="0"/>
              <a:t> </a:t>
            </a:r>
            <a:r>
              <a:rPr lang="en-US" altLang="ko-KR" dirty="0"/>
              <a:t>layer</a:t>
            </a:r>
            <a:r>
              <a:rPr lang="ko-KR" altLang="en-US" dirty="0"/>
              <a:t>로 인해 발생하는 문제</a:t>
            </a:r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6A8355EB-6333-EA35-711C-9DADFDD890F3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058953" y="1307527"/>
            <a:ext cx="10930220" cy="983390"/>
          </a:xfrm>
        </p:spPr>
        <p:txBody>
          <a:bodyPr/>
          <a:lstStyle/>
          <a:p>
            <a:r>
              <a:rPr lang="en-US" altLang="ko-KR" dirty="0"/>
              <a:t>Over-fitting: </a:t>
            </a:r>
            <a:r>
              <a:rPr lang="ko-KR" altLang="en-US" dirty="0"/>
              <a:t>노이즈까지 학습하여 새로운 데이터에 대한 예측성능이 떨어지는 현상 </a:t>
            </a:r>
            <a:endParaRPr lang="en-US" altLang="ko-KR" dirty="0"/>
          </a:p>
          <a:p>
            <a:r>
              <a:rPr lang="ko-KR" altLang="ko-KR" dirty="0" err="1"/>
              <a:t>Vanishing</a:t>
            </a:r>
            <a:r>
              <a:rPr lang="ko-KR" altLang="ko-KR" dirty="0"/>
              <a:t> </a:t>
            </a:r>
            <a:r>
              <a:rPr lang="ko-KR" altLang="ko-KR" dirty="0" err="1"/>
              <a:t>Gradient</a:t>
            </a:r>
            <a:r>
              <a:rPr lang="en-US" altLang="ko-KR" dirty="0"/>
              <a:t>: </a:t>
            </a:r>
            <a:r>
              <a:rPr lang="ko-KR" altLang="en-US" dirty="0"/>
              <a:t>입력층에 가까울 수록 오차가 소실되어 학습이 더디게 이루어짐</a:t>
            </a:r>
            <a:endParaRPr lang="en-US" altLang="ko-KR" dirty="0"/>
          </a:p>
          <a:p>
            <a:r>
              <a:rPr lang="ko-KR" altLang="ko-KR" dirty="0" err="1"/>
              <a:t>Degradation</a:t>
            </a:r>
            <a:r>
              <a:rPr lang="ko-KR" altLang="ko-KR" dirty="0"/>
              <a:t> </a:t>
            </a:r>
            <a:r>
              <a:rPr lang="ko-KR" altLang="ko-KR" dirty="0" err="1"/>
              <a:t>Problem</a:t>
            </a:r>
            <a:r>
              <a:rPr lang="en-US" altLang="ko-KR" dirty="0"/>
              <a:t>: Loss landscape</a:t>
            </a:r>
            <a:r>
              <a:rPr lang="ko-KR" altLang="en-US" dirty="0"/>
              <a:t> 복잡성에 의한 최적화 난이도 상승으로 </a:t>
            </a:r>
            <a:r>
              <a:rPr lang="en-US" altLang="ko-KR" dirty="0"/>
              <a:t>hidden layer</a:t>
            </a:r>
            <a:r>
              <a:rPr lang="ko-KR" altLang="en-US" dirty="0"/>
              <a:t>가 두꺼워지며 성능저하</a:t>
            </a:r>
          </a:p>
        </p:txBody>
      </p: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5B492212-EFB5-1200-A1EA-B5CDAAD0837D}"/>
              </a:ext>
            </a:extLst>
          </p:cNvPr>
          <p:cNvSpPr txBox="1">
            <a:spLocks/>
          </p:cNvSpPr>
          <p:nvPr/>
        </p:nvSpPr>
        <p:spPr>
          <a:xfrm>
            <a:off x="8730675" y="2378322"/>
            <a:ext cx="2210440" cy="320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altLang="ko-KR" dirty="0"/>
              <a:t>Degradation Problem</a:t>
            </a:r>
            <a:endParaRPr lang="ko-KR" altLang="en-US" dirty="0"/>
          </a:p>
        </p:txBody>
      </p:sp>
      <p:pic>
        <p:nvPicPr>
          <p:cNvPr id="31" name="그래픽 30">
            <a:extLst>
              <a:ext uri="{FF2B5EF4-FFF2-40B4-BE49-F238E27FC236}">
                <a16:creationId xmlns:a16="http://schemas.microsoft.com/office/drawing/2014/main" id="{47BED4A4-99A6-451B-0017-89B6FD752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3395" y="2698410"/>
            <a:ext cx="2654980" cy="24583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F09BCC-DAA1-CCB6-AF4A-CB6751D3F1D3}"/>
                  </a:ext>
                </a:extLst>
              </p:cNvPr>
              <p:cNvSpPr txBox="1"/>
              <p:nvPr/>
            </p:nvSpPr>
            <p:spPr>
              <a:xfrm>
                <a:off x="6096000" y="4325317"/>
                <a:ext cx="983539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ko-KR" altLang="en-US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F09BCC-DAA1-CCB6-AF4A-CB6751D3F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325317"/>
                <a:ext cx="983539" cy="521746"/>
              </a:xfrm>
              <a:prstGeom prst="rect">
                <a:avLst/>
              </a:prstGeom>
              <a:blipFill>
                <a:blip r:embed="rId4"/>
                <a:stretch>
                  <a:fillRect l="-65217" t="-147059" r="-71429" b="-2070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78EA3C-5A06-0867-242A-9891542660C0}"/>
                  </a:ext>
                </a:extLst>
              </p:cNvPr>
              <p:cNvSpPr txBox="1"/>
              <p:nvPr/>
            </p:nvSpPr>
            <p:spPr>
              <a:xfrm>
                <a:off x="5122921" y="3622703"/>
                <a:ext cx="2802194" cy="628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ClrTx/>
                  <a:buNone/>
                </a:pPr>
                <a:r>
                  <a:rPr lang="en-US" altLang="ko-KR" b="1" dirty="0"/>
                  <a:t>Sigmoid: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𝒎𝒂𝒙</m:t>
                    </m:r>
                    <m:d>
                      <m:dPr>
                        <m:begChr m:val="|"/>
                        <m:endChr m:val="|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num>
                          <m:den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den>
                        </m:f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ko-KR" altLang="en-US" b="1" dirty="0"/>
              </a:p>
              <a:p>
                <a:pPr>
                  <a:buClrTx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78EA3C-5A06-0867-242A-989154266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921" y="3622703"/>
                <a:ext cx="2802194" cy="6286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B0F4C82-B4BC-4F4A-F2AD-C92FDF8425F6}"/>
                  </a:ext>
                </a:extLst>
              </p:cNvPr>
              <p:cNvSpPr txBox="1"/>
              <p:nvPr/>
            </p:nvSpPr>
            <p:spPr>
              <a:xfrm>
                <a:off x="4938565" y="2785815"/>
                <a:ext cx="3170906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altLang="ko-KR" sz="14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num>
                        <m:den>
                          <m:r>
                            <a:rPr lang="ko-KR" altLang="en-US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altLang="ko-KR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  <m:r>
                        <a:rPr lang="en-US" altLang="ko-KR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en-US" altLang="ko-KR" sz="1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num>
                            <m:den>
                              <m:r>
                                <a:rPr lang="ko-KR" altLang="en-US" sz="14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ko-KR" sz="1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ko-KR" altLang="en-US" sz="14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ko-KR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ko-KR" altLang="en-US" sz="14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ko-KR" sz="1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ko-KR" altLang="en-US" sz="14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ko-KR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400" b="1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ko-KR" altLang="en-US" sz="1400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B0F4C82-B4BC-4F4A-F2AD-C92FDF842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565" y="2785815"/>
                <a:ext cx="3170906" cy="576376"/>
              </a:xfrm>
              <a:prstGeom prst="rect">
                <a:avLst/>
              </a:prstGeom>
              <a:blipFill>
                <a:blip r:embed="rId6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그림 43">
            <a:extLst>
              <a:ext uri="{FF2B5EF4-FFF2-40B4-BE49-F238E27FC236}">
                <a16:creationId xmlns:a16="http://schemas.microsoft.com/office/drawing/2014/main" id="{A114D914-E33B-CB2E-ABEA-4D3AFA709B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244" b="7681"/>
          <a:stretch>
            <a:fillRect/>
          </a:stretch>
        </p:blipFill>
        <p:spPr>
          <a:xfrm>
            <a:off x="9096777" y="3819618"/>
            <a:ext cx="1980000" cy="117726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BF46C278-6BA0-9ACC-05C2-3FDD87DBD1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0000" b="7681"/>
          <a:stretch>
            <a:fillRect/>
          </a:stretch>
        </p:blipFill>
        <p:spPr>
          <a:xfrm>
            <a:off x="9144235" y="2613517"/>
            <a:ext cx="1980000" cy="1218605"/>
          </a:xfrm>
          <a:prstGeom prst="rect">
            <a:avLst/>
          </a:prstGeom>
        </p:spPr>
      </p:pic>
      <p:sp>
        <p:nvSpPr>
          <p:cNvPr id="48" name="텍스트 개체 틀 11">
            <a:extLst>
              <a:ext uri="{FF2B5EF4-FFF2-40B4-BE49-F238E27FC236}">
                <a16:creationId xmlns:a16="http://schemas.microsoft.com/office/drawing/2014/main" id="{238DFA17-5CA5-12F4-F7E4-4724807E06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9206" y="6640250"/>
            <a:ext cx="8666408" cy="153397"/>
          </a:xfrm>
        </p:spPr>
        <p:txBody>
          <a:bodyPr>
            <a:normAutofit/>
          </a:bodyPr>
          <a:lstStyle>
            <a:lvl1pPr marL="108000">
              <a:lnSpc>
                <a:spcPct val="0"/>
              </a:lnSpc>
              <a:buFont typeface="+mj-lt"/>
              <a:buNone/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ko-KR" sz="700" dirty="0"/>
              <a:t>[1]</a:t>
            </a:r>
            <a:r>
              <a:rPr lang="ko-KR" altLang="ko-KR" sz="700" dirty="0"/>
              <a:t> K. </a:t>
            </a:r>
            <a:r>
              <a:rPr lang="ko-KR" altLang="ko-KR" sz="700" dirty="0" err="1"/>
              <a:t>He</a:t>
            </a:r>
            <a:r>
              <a:rPr lang="ko-KR" altLang="ko-KR" sz="700" dirty="0"/>
              <a:t>, </a:t>
            </a:r>
            <a:r>
              <a:rPr lang="ko-KR" altLang="ko-KR" sz="700" dirty="0" err="1"/>
              <a:t>X</a:t>
            </a:r>
            <a:r>
              <a:rPr lang="ko-KR" altLang="ko-KR" sz="700" dirty="0"/>
              <a:t>. </a:t>
            </a:r>
            <a:r>
              <a:rPr lang="ko-KR" altLang="ko-KR" sz="700" dirty="0" err="1"/>
              <a:t>Zhang</a:t>
            </a:r>
            <a:r>
              <a:rPr lang="ko-KR" altLang="ko-KR" sz="700" dirty="0"/>
              <a:t>, </a:t>
            </a:r>
            <a:r>
              <a:rPr lang="ko-KR" altLang="ko-KR" sz="700" dirty="0" err="1"/>
              <a:t>S</a:t>
            </a:r>
            <a:r>
              <a:rPr lang="ko-KR" altLang="ko-KR" sz="700" dirty="0"/>
              <a:t>. </a:t>
            </a:r>
            <a:r>
              <a:rPr lang="ko-KR" altLang="ko-KR" sz="700" dirty="0" err="1"/>
              <a:t>Ren</a:t>
            </a:r>
            <a:r>
              <a:rPr lang="ko-KR" altLang="ko-KR" sz="700" dirty="0"/>
              <a:t>, and </a:t>
            </a:r>
            <a:r>
              <a:rPr lang="ko-KR" altLang="ko-KR" sz="700" dirty="0" err="1"/>
              <a:t>J</a:t>
            </a:r>
            <a:r>
              <a:rPr lang="ko-KR" altLang="ko-KR" sz="700" dirty="0"/>
              <a:t>. Sun, "</a:t>
            </a:r>
            <a:r>
              <a:rPr lang="ko-KR" altLang="ko-KR" sz="700" dirty="0" err="1"/>
              <a:t>Deep</a:t>
            </a:r>
            <a:r>
              <a:rPr lang="ko-KR" altLang="ko-KR" sz="700" dirty="0"/>
              <a:t> </a:t>
            </a:r>
            <a:r>
              <a:rPr lang="ko-KR" altLang="ko-KR" sz="700" dirty="0" err="1"/>
              <a:t>Residual</a:t>
            </a:r>
            <a:r>
              <a:rPr lang="ko-KR" altLang="ko-KR" sz="700" dirty="0"/>
              <a:t> </a:t>
            </a:r>
            <a:r>
              <a:rPr lang="ko-KR" altLang="ko-KR" sz="700" dirty="0" err="1"/>
              <a:t>Learning</a:t>
            </a:r>
            <a:r>
              <a:rPr lang="ko-KR" altLang="ko-KR" sz="700" dirty="0"/>
              <a:t> </a:t>
            </a:r>
            <a:r>
              <a:rPr lang="ko-KR" altLang="ko-KR" sz="700" dirty="0" err="1"/>
              <a:t>for</a:t>
            </a:r>
            <a:r>
              <a:rPr lang="ko-KR" altLang="ko-KR" sz="700" dirty="0"/>
              <a:t> </a:t>
            </a:r>
            <a:r>
              <a:rPr lang="ko-KR" altLang="ko-KR" sz="700" dirty="0" err="1"/>
              <a:t>Image</a:t>
            </a:r>
            <a:r>
              <a:rPr lang="ko-KR" altLang="ko-KR" sz="700" dirty="0"/>
              <a:t> </a:t>
            </a:r>
            <a:r>
              <a:rPr lang="ko-KR" altLang="ko-KR" sz="700" dirty="0" err="1"/>
              <a:t>Recognition</a:t>
            </a:r>
            <a:r>
              <a:rPr lang="ko-KR" altLang="ko-KR" sz="700" dirty="0"/>
              <a:t>," </a:t>
            </a:r>
            <a:r>
              <a:rPr lang="ko-KR" altLang="ko-KR" sz="700" i="1" dirty="0"/>
              <a:t>2016 IEEE </a:t>
            </a:r>
            <a:r>
              <a:rPr lang="ko-KR" altLang="ko-KR" sz="700" i="1" dirty="0" err="1"/>
              <a:t>Conference</a:t>
            </a:r>
            <a:r>
              <a:rPr lang="ko-KR" altLang="ko-KR" sz="700" i="1" dirty="0"/>
              <a:t> </a:t>
            </a:r>
            <a:r>
              <a:rPr lang="ko-KR" altLang="ko-KR" sz="700" i="1" dirty="0" err="1"/>
              <a:t>on</a:t>
            </a:r>
            <a:r>
              <a:rPr lang="ko-KR" altLang="ko-KR" sz="700" i="1" dirty="0"/>
              <a:t> Computer </a:t>
            </a:r>
            <a:r>
              <a:rPr lang="ko-KR" altLang="ko-KR" sz="700" i="1" dirty="0" err="1"/>
              <a:t>Vision</a:t>
            </a:r>
            <a:r>
              <a:rPr lang="ko-KR" altLang="ko-KR" sz="700" i="1" dirty="0"/>
              <a:t> and </a:t>
            </a:r>
            <a:r>
              <a:rPr lang="ko-KR" altLang="ko-KR" sz="700" i="1" dirty="0" err="1"/>
              <a:t>Pattern</a:t>
            </a:r>
            <a:r>
              <a:rPr lang="ko-KR" altLang="ko-KR" sz="700" i="1" dirty="0"/>
              <a:t> </a:t>
            </a:r>
            <a:r>
              <a:rPr lang="ko-KR" altLang="ko-KR" sz="700" i="1" dirty="0" err="1"/>
              <a:t>Recognition</a:t>
            </a:r>
            <a:r>
              <a:rPr lang="ko-KR" altLang="ko-KR" sz="700" i="1" dirty="0"/>
              <a:t> (CVPR)</a:t>
            </a:r>
            <a:r>
              <a:rPr lang="ko-KR" altLang="ko-KR" sz="700" dirty="0"/>
              <a:t>, Las Vegas, NV, USA, 2016, </a:t>
            </a:r>
            <a:r>
              <a:rPr lang="ko-KR" altLang="ko-KR" sz="700" dirty="0" err="1"/>
              <a:t>pp</a:t>
            </a:r>
            <a:r>
              <a:rPr lang="ko-KR" altLang="ko-KR" sz="700" dirty="0"/>
              <a:t>. 770-778.</a:t>
            </a:r>
            <a:endParaRPr lang="ko-KR" altLang="en-US" sz="7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668CF5A-F5AD-EC22-BEC7-1C7781530FF3}"/>
              </a:ext>
            </a:extLst>
          </p:cNvPr>
          <p:cNvCxnSpPr/>
          <p:nvPr/>
        </p:nvCxnSpPr>
        <p:spPr>
          <a:xfrm>
            <a:off x="5902960" y="3362191"/>
            <a:ext cx="3149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2936D22-0410-1B4B-EB6F-C6A828FE3041}"/>
              </a:ext>
            </a:extLst>
          </p:cNvPr>
          <p:cNvCxnSpPr>
            <a:cxnSpLocks/>
          </p:cNvCxnSpPr>
          <p:nvPr/>
        </p:nvCxnSpPr>
        <p:spPr>
          <a:xfrm>
            <a:off x="7162800" y="3362191"/>
            <a:ext cx="4673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91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그림 개체 틀 11">
            <a:extLst>
              <a:ext uri="{FF2B5EF4-FFF2-40B4-BE49-F238E27FC236}">
                <a16:creationId xmlns:a16="http://schemas.microsoft.com/office/drawing/2014/main" id="{A03E1EA8-82F0-40C7-CE9E-C2843E31B7EA}"/>
              </a:ext>
            </a:extLst>
          </p:cNvPr>
          <p:cNvSpPr txBox="1">
            <a:spLocks/>
          </p:cNvSpPr>
          <p:nvPr/>
        </p:nvSpPr>
        <p:spPr>
          <a:xfrm>
            <a:off x="1255243" y="2526282"/>
            <a:ext cx="3240000" cy="4032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vert="horz" lIns="91440" tIns="18000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16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1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endParaRPr lang="en-US" altLang="ko-KR" sz="2800" dirty="0"/>
          </a:p>
          <a:p>
            <a:r>
              <a:rPr lang="ko-KR" altLang="en-US" dirty="0"/>
              <a:t>장점</a:t>
            </a:r>
            <a:endParaRPr lang="en-US" altLang="ko-KR" dirty="0"/>
          </a:p>
          <a:p>
            <a:pPr lvl="1"/>
            <a:r>
              <a:rPr lang="ko-KR" altLang="en-US" dirty="0"/>
              <a:t>업데이트 방향이 안정적</a:t>
            </a:r>
            <a:endParaRPr lang="en-US" altLang="ko-KR" dirty="0"/>
          </a:p>
          <a:p>
            <a:pPr lvl="1"/>
            <a:r>
              <a:rPr lang="ko-KR" altLang="en-US" dirty="0"/>
              <a:t>계산 효율성 우수</a:t>
            </a:r>
            <a:endParaRPr lang="en-US" altLang="ko-KR" dirty="0"/>
          </a:p>
          <a:p>
            <a:r>
              <a:rPr lang="ko-KR" altLang="en-US" dirty="0"/>
              <a:t>단점</a:t>
            </a:r>
            <a:endParaRPr lang="en-US" altLang="ko-KR" dirty="0"/>
          </a:p>
          <a:p>
            <a:pPr lvl="1"/>
            <a:r>
              <a:rPr lang="ko-KR" altLang="en-US" dirty="0"/>
              <a:t>업데이트 속도가 느림</a:t>
            </a:r>
            <a:endParaRPr lang="en-US" altLang="ko-KR" dirty="0"/>
          </a:p>
          <a:p>
            <a:pPr lvl="1"/>
            <a:r>
              <a:rPr lang="en-US" altLang="ko-KR" dirty="0"/>
              <a:t>Local minimum </a:t>
            </a:r>
            <a:r>
              <a:rPr lang="ko-KR" altLang="en-US" dirty="0"/>
              <a:t>위험</a:t>
            </a:r>
          </a:p>
        </p:txBody>
      </p:sp>
      <p:sp>
        <p:nvSpPr>
          <p:cNvPr id="5" name="그림 개체 틀 11">
            <a:extLst>
              <a:ext uri="{FF2B5EF4-FFF2-40B4-BE49-F238E27FC236}">
                <a16:creationId xmlns:a16="http://schemas.microsoft.com/office/drawing/2014/main" id="{87486888-5B67-D9C4-3B34-61C972B42AD7}"/>
              </a:ext>
            </a:extLst>
          </p:cNvPr>
          <p:cNvSpPr txBox="1">
            <a:spLocks/>
          </p:cNvSpPr>
          <p:nvPr/>
        </p:nvSpPr>
        <p:spPr>
          <a:xfrm>
            <a:off x="4904018" y="2526282"/>
            <a:ext cx="3240000" cy="4032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vert="horz" lIns="91440" tIns="18000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16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1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장점</a:t>
            </a:r>
            <a:endParaRPr lang="en-US" altLang="ko-KR" dirty="0"/>
          </a:p>
          <a:p>
            <a:pPr lvl="1"/>
            <a:r>
              <a:rPr lang="ko-KR" altLang="en-US" dirty="0"/>
              <a:t>업데이트 속도가 빠름</a:t>
            </a:r>
            <a:endParaRPr lang="en-US" altLang="ko-KR" dirty="0"/>
          </a:p>
          <a:p>
            <a:pPr lvl="1"/>
            <a:r>
              <a:rPr lang="en-US" altLang="ko-KR" dirty="0"/>
              <a:t>Global minimum </a:t>
            </a:r>
            <a:r>
              <a:rPr lang="ko-KR" altLang="en-US" dirty="0"/>
              <a:t>확보에 유리</a:t>
            </a:r>
            <a:endParaRPr lang="en-US" altLang="ko-KR" dirty="0"/>
          </a:p>
          <a:p>
            <a:r>
              <a:rPr lang="ko-KR" altLang="en-US" dirty="0"/>
              <a:t>단점</a:t>
            </a:r>
            <a:endParaRPr lang="en-US" altLang="ko-KR" dirty="0"/>
          </a:p>
          <a:p>
            <a:pPr lvl="1"/>
            <a:r>
              <a:rPr lang="ko-KR" altLang="en-US" dirty="0"/>
              <a:t>수렴 경로가 불안정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그림 개체 틀 11">
            <a:extLst>
              <a:ext uri="{FF2B5EF4-FFF2-40B4-BE49-F238E27FC236}">
                <a16:creationId xmlns:a16="http://schemas.microsoft.com/office/drawing/2014/main" id="{64EC5DD6-BC76-146F-B8CE-8573A9B3C16B}"/>
              </a:ext>
            </a:extLst>
          </p:cNvPr>
          <p:cNvSpPr txBox="1">
            <a:spLocks/>
          </p:cNvSpPr>
          <p:nvPr/>
        </p:nvSpPr>
        <p:spPr>
          <a:xfrm>
            <a:off x="8557151" y="2526282"/>
            <a:ext cx="3240000" cy="4032000"/>
          </a:xfrm>
          <a:prstGeom prst="roundRect">
            <a:avLst>
              <a:gd name="adj" fmla="val 7818"/>
            </a:avLst>
          </a:prstGeom>
          <a:ln>
            <a:solidFill>
              <a:schemeClr val="tx1"/>
            </a:solidFill>
            <a:prstDash val="dash"/>
          </a:ln>
        </p:spPr>
        <p:txBody>
          <a:bodyPr vert="horz" lIns="91440" tIns="18000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16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540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1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endParaRPr lang="en-US" altLang="ko-KR" dirty="0"/>
          </a:p>
          <a:p>
            <a:pPr>
              <a:buClrTx/>
            </a:pPr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en-US" altLang="ko-KR" dirty="0"/>
              <a:t>BGD</a:t>
            </a:r>
            <a:r>
              <a:rPr lang="ko-KR" altLang="en-US" dirty="0"/>
              <a:t>보다 빠름 </a:t>
            </a:r>
            <a:endParaRPr lang="en-US" altLang="ko-KR" dirty="0"/>
          </a:p>
          <a:p>
            <a:pPr lvl="1"/>
            <a:r>
              <a:rPr lang="en-US" altLang="ko-KR" dirty="0"/>
              <a:t>SGD</a:t>
            </a:r>
            <a:r>
              <a:rPr lang="ko-KR" altLang="en-US" dirty="0"/>
              <a:t>보다 안정적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1F58C6-4E4F-B377-5B1B-FB9E2163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pPr/>
              <a:t>8</a:t>
            </a:fld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B11BC94-0CA9-7098-A141-6D1079A34E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1673" y="2378322"/>
            <a:ext cx="612668" cy="320088"/>
          </a:xfrm>
        </p:spPr>
        <p:txBody>
          <a:bodyPr/>
          <a:lstStyle/>
          <a:p>
            <a:r>
              <a:rPr lang="en-US" altLang="ko-KR" dirty="0"/>
              <a:t>BGD</a:t>
            </a:r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C81C199A-1237-A901-60DE-8EB4A281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경사하강법</a:t>
            </a:r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94BD3323-3AD9-F74A-7F3B-639344AC54C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02836" y="2378322"/>
            <a:ext cx="599844" cy="320088"/>
          </a:xfrm>
          <a:solidFill>
            <a:schemeClr val="bg1"/>
          </a:solidFill>
        </p:spPr>
        <p:txBody>
          <a:bodyPr/>
          <a:lstStyle/>
          <a:p>
            <a:r>
              <a:rPr lang="en-US" altLang="ko-KR" dirty="0"/>
              <a:t>SGD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091ABF76-19C1-6E1C-6517-9E43AB4332E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err="1"/>
              <a:t>경사하강법</a:t>
            </a:r>
            <a:r>
              <a:rPr lang="en-US" altLang="ko-KR" dirty="0"/>
              <a:t>: Loss function</a:t>
            </a:r>
            <a:r>
              <a:rPr lang="ko-KR" altLang="en-US" dirty="0"/>
              <a:t>의</a:t>
            </a:r>
            <a:r>
              <a:rPr lang="en-US" altLang="ko-KR" dirty="0"/>
              <a:t> gradient</a:t>
            </a:r>
            <a:r>
              <a:rPr lang="ko-KR" altLang="en-US" dirty="0"/>
              <a:t>를 이용해 최적의 </a:t>
            </a:r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4D247E10-D040-163C-E75C-F7CE97D7940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058953" y="1307527"/>
            <a:ext cx="10930220" cy="983390"/>
          </a:xfrm>
        </p:spPr>
        <p:txBody>
          <a:bodyPr/>
          <a:lstStyle/>
          <a:p>
            <a:r>
              <a:rPr lang="en-US" altLang="ko-KR" dirty="0"/>
              <a:t>BGD(Batch Gradient Descent): </a:t>
            </a:r>
            <a:r>
              <a:rPr lang="ko-KR" altLang="en-US" dirty="0"/>
              <a:t>전체 훈련 데이터셋을 이용해 학습</a:t>
            </a:r>
            <a:endParaRPr lang="en-US" altLang="ko-KR" dirty="0"/>
          </a:p>
          <a:p>
            <a:r>
              <a:rPr lang="en-US" altLang="ko-KR" dirty="0"/>
              <a:t>SGD(Stochastic Gradient Descent): </a:t>
            </a:r>
            <a:r>
              <a:rPr lang="ko-KR" altLang="en-US" dirty="0"/>
              <a:t>임의의 데이터를 이용해 학습</a:t>
            </a:r>
            <a:endParaRPr lang="en-US" altLang="ko-KR" dirty="0"/>
          </a:p>
          <a:p>
            <a:r>
              <a:rPr lang="en-US" altLang="ko-KR" dirty="0"/>
              <a:t>MGD(Mini-batch Gradient Descent): </a:t>
            </a:r>
            <a:r>
              <a:rPr lang="ko-KR" altLang="en-US" dirty="0"/>
              <a:t>전체 훈련 데이터셋을 나눈 </a:t>
            </a:r>
            <a:r>
              <a:rPr lang="en-US" altLang="ko-KR" dirty="0"/>
              <a:t>mini-batch</a:t>
            </a:r>
            <a:r>
              <a:rPr lang="ko-KR" altLang="en-US" dirty="0"/>
              <a:t>를 이용해 학습</a:t>
            </a:r>
          </a:p>
        </p:txBody>
      </p: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4BB944AF-C78D-0C52-7811-80F488709B31}"/>
              </a:ext>
            </a:extLst>
          </p:cNvPr>
          <p:cNvSpPr txBox="1">
            <a:spLocks/>
          </p:cNvSpPr>
          <p:nvPr/>
        </p:nvSpPr>
        <p:spPr>
          <a:xfrm>
            <a:off x="8730675" y="2378322"/>
            <a:ext cx="718125" cy="320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altLang="ko-KR" dirty="0"/>
              <a:t>MGD</a:t>
            </a:r>
            <a:endParaRPr lang="ko-KR" altLang="en-US" dirty="0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1090A02-EDA0-0F1D-D01D-DF0A7CC98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16060"/>
              </p:ext>
            </p:extLst>
          </p:nvPr>
        </p:nvGraphicFramePr>
        <p:xfrm>
          <a:off x="2017903" y="2787991"/>
          <a:ext cx="170596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964">
                  <a:extLst>
                    <a:ext uri="{9D8B030D-6E8A-4147-A177-3AD203B41FA5}">
                      <a16:colId xmlns:a16="http://schemas.microsoft.com/office/drawing/2014/main" val="1900722994"/>
                    </a:ext>
                  </a:extLst>
                </a:gridCol>
              </a:tblGrid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13278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980669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673642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31700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342108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01132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2770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295904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45564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811789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07802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448414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FDAFBD30-ED2E-1472-FB56-E7A049DF3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676857"/>
              </p:ext>
            </p:extLst>
          </p:nvPr>
        </p:nvGraphicFramePr>
        <p:xfrm>
          <a:off x="5671036" y="2787991"/>
          <a:ext cx="170596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964">
                  <a:extLst>
                    <a:ext uri="{9D8B030D-6E8A-4147-A177-3AD203B41FA5}">
                      <a16:colId xmlns:a16="http://schemas.microsoft.com/office/drawing/2014/main" val="1900722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13278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980669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673642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31700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342108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01132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2770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295904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45564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811789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07802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448414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53A4CAE-F814-72E3-934E-8C652F54A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842782"/>
              </p:ext>
            </p:extLst>
          </p:nvPr>
        </p:nvGraphicFramePr>
        <p:xfrm>
          <a:off x="9321115" y="2787991"/>
          <a:ext cx="170596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964">
                  <a:extLst>
                    <a:ext uri="{9D8B030D-6E8A-4147-A177-3AD203B41FA5}">
                      <a16:colId xmlns:a16="http://schemas.microsoft.com/office/drawing/2014/main" val="1900722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13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980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673642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31700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342108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01132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2770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295904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45564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811789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07802"/>
                  </a:ext>
                </a:extLst>
              </a:tr>
              <a:tr h="144726">
                <a:tc>
                  <a:txBody>
                    <a:bodyPr/>
                    <a:lstStyle/>
                    <a:p>
                      <a:pPr latinLnBrk="1"/>
                      <a:endParaRPr lang="ko-KR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448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63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4ABC8EDB-F4EE-3DBA-D24E-819A2AE198F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머신러닝에서</a:t>
            </a:r>
            <a:r>
              <a:rPr lang="ko-KR" altLang="en-US" dirty="0"/>
              <a:t> 사용한 별도의 트릭 없이 비선형 분류가 가능</a:t>
            </a:r>
            <a:endParaRPr lang="en-US" altLang="ko-KR" dirty="0"/>
          </a:p>
          <a:p>
            <a:r>
              <a:rPr lang="ko-KR" altLang="en-US" dirty="0"/>
              <a:t>학습을 위한 </a:t>
            </a:r>
            <a:r>
              <a:rPr lang="ko-KR" altLang="en-US" dirty="0" err="1"/>
              <a:t>연산량이</a:t>
            </a:r>
            <a:r>
              <a:rPr lang="ko-KR" altLang="en-US" dirty="0"/>
              <a:t> 많음</a:t>
            </a:r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90885A77-7AFF-2CF9-1F71-41977C12BD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균일 격자 형태의 데이터를 </a:t>
            </a:r>
            <a:r>
              <a:rPr lang="en-US" altLang="ko-KR" dirty="0"/>
              <a:t>input</a:t>
            </a:r>
            <a:r>
              <a:rPr lang="ko-KR" altLang="en-US" dirty="0"/>
              <a:t>으로 함</a:t>
            </a:r>
            <a:endParaRPr lang="en-US" altLang="ko-KR" dirty="0"/>
          </a:p>
          <a:p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층의</a:t>
            </a:r>
            <a:r>
              <a:rPr lang="en-US" altLang="ko-KR" dirty="0"/>
              <a:t> </a:t>
            </a:r>
            <a:r>
              <a:rPr lang="ko-KR" altLang="en-US" dirty="0"/>
              <a:t>입출력 형상을 유지</a:t>
            </a:r>
            <a:endParaRPr lang="en-US" altLang="ko-KR" dirty="0"/>
          </a:p>
          <a:p>
            <a:r>
              <a:rPr lang="ko-KR" altLang="en-US" dirty="0"/>
              <a:t>복수 필터로 이미지 특징을 추출하고 학습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D5D513-B100-859F-1142-CC9B8F90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pPr/>
              <a:t>9</a:t>
            </a:fld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D7A70B4-048E-72BE-4B17-919F91EF18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1673" y="2125543"/>
            <a:ext cx="625492" cy="320088"/>
          </a:xfrm>
        </p:spPr>
        <p:txBody>
          <a:bodyPr/>
          <a:lstStyle/>
          <a:p>
            <a:r>
              <a:rPr lang="en-US" altLang="ko-KR" dirty="0"/>
              <a:t>DNN</a:t>
            </a:r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6AE37333-3320-3865-8D55-701FE16F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딥러닝 알고리즘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DB63375A-124E-BB6C-B7FC-07C580FA68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01873" y="2125543"/>
            <a:ext cx="615874" cy="320088"/>
          </a:xfrm>
        </p:spPr>
        <p:txBody>
          <a:bodyPr/>
          <a:lstStyle/>
          <a:p>
            <a:r>
              <a:rPr lang="en-US" altLang="ko-KR" dirty="0"/>
              <a:t>CNN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DD2648A0-DB3E-F1C9-8024-440D590B3B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딥러닝 알고리즘 종류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54E8D1BB-469E-471C-BDB1-844C05A539F7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en-US" altLang="ko-KR" dirty="0"/>
              <a:t>DNN(Deep Neural Network): Input layer</a:t>
            </a:r>
            <a:r>
              <a:rPr lang="ko-KR" altLang="en-US" dirty="0"/>
              <a:t>와 </a:t>
            </a:r>
            <a:r>
              <a:rPr lang="en-US" altLang="ko-KR" dirty="0"/>
              <a:t>output</a:t>
            </a:r>
            <a:r>
              <a:rPr lang="ko-KR" altLang="en-US" dirty="0"/>
              <a:t> </a:t>
            </a:r>
            <a:r>
              <a:rPr lang="en-US" altLang="ko-KR" dirty="0"/>
              <a:t>layer</a:t>
            </a:r>
            <a:r>
              <a:rPr lang="ko-KR" altLang="en-US" dirty="0"/>
              <a:t> 사이에 복수의 은닉층을 가지는 </a:t>
            </a:r>
            <a:r>
              <a:rPr lang="en-US" altLang="ko-KR" dirty="0"/>
              <a:t>neural network</a:t>
            </a:r>
          </a:p>
          <a:p>
            <a:r>
              <a:rPr lang="en-US" altLang="ko-KR" dirty="0"/>
              <a:t>CNN(Convolution Neural Network): Convolutional layer</a:t>
            </a:r>
            <a:r>
              <a:rPr lang="ko-KR" altLang="en-US" dirty="0"/>
              <a:t>와 </a:t>
            </a:r>
            <a:r>
              <a:rPr lang="en-US" altLang="ko-KR" dirty="0"/>
              <a:t>pooling</a:t>
            </a:r>
            <a:r>
              <a:rPr lang="ko-KR" altLang="en-US" dirty="0"/>
              <a:t> </a:t>
            </a:r>
            <a:r>
              <a:rPr lang="en-US" altLang="ko-KR" dirty="0"/>
              <a:t>layer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포함하는 </a:t>
            </a:r>
            <a:r>
              <a:rPr lang="en-US" altLang="ko-KR" dirty="0"/>
              <a:t>neural</a:t>
            </a:r>
            <a:r>
              <a:rPr lang="ko-KR" altLang="en-US" dirty="0"/>
              <a:t> </a:t>
            </a:r>
            <a:r>
              <a:rPr lang="en-US" altLang="ko-KR" dirty="0"/>
              <a:t>network</a:t>
            </a:r>
            <a:endParaRPr lang="ko-KR" altLang="en-US" dirty="0"/>
          </a:p>
        </p:txBody>
      </p:sp>
      <p:pic>
        <p:nvPicPr>
          <p:cNvPr id="2" name="그림 1" descr="많은 화살표로 원이 연결된 CNN, 왼쪽에서 오른쪽으로 지정된 레이블: 입력, 입력 계층, 은닉 계층, 출력 계층, 출력. ">
            <a:extLst>
              <a:ext uri="{FF2B5EF4-FFF2-40B4-BE49-F238E27FC236}">
                <a16:creationId xmlns:a16="http://schemas.microsoft.com/office/drawing/2014/main" id="{4C92B982-B2E6-D7C5-A3F7-020418EBD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770" y="2527598"/>
            <a:ext cx="4362230" cy="1989178"/>
          </a:xfrm>
          <a:prstGeom prst="rect">
            <a:avLst/>
          </a:prstGeom>
        </p:spPr>
      </p:pic>
      <p:pic>
        <p:nvPicPr>
          <p:cNvPr id="3" name="그림 2" descr="특징 학습 방법에 대한 입력을 자동차로 하는 CNN 표현. 계속 작아지는 연결된 정육면체와 분류로 표현됨.">
            <a:extLst>
              <a:ext uri="{FF2B5EF4-FFF2-40B4-BE49-F238E27FC236}">
                <a16:creationId xmlns:a16="http://schemas.microsoft.com/office/drawing/2014/main" id="{167D7459-9682-5E81-2BD4-24B5E5BD6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155" y="2728738"/>
            <a:ext cx="4951860" cy="1683632"/>
          </a:xfrm>
          <a:prstGeom prst="rect">
            <a:avLst/>
          </a:prstGeom>
        </p:spPr>
      </p:pic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44420E7E-3064-D905-213F-E17CC57B1B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9206" y="6640250"/>
            <a:ext cx="8666408" cy="153397"/>
          </a:xfrm>
        </p:spPr>
        <p:txBody>
          <a:bodyPr>
            <a:normAutofit/>
          </a:bodyPr>
          <a:lstStyle>
            <a:lvl1pPr marL="108000">
              <a:lnSpc>
                <a:spcPct val="0"/>
              </a:lnSpc>
              <a:buFont typeface="+mj-lt"/>
              <a:buNone/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ko-KR" sz="700" dirty="0"/>
              <a:t>[1]</a:t>
            </a:r>
            <a:r>
              <a:rPr lang="ko-KR" altLang="ko-KR" sz="700" dirty="0"/>
              <a:t> </a:t>
            </a:r>
            <a:r>
              <a:rPr lang="ko-KR" altLang="ko-KR" sz="700" dirty="0" err="1"/>
              <a:t>MathWorks</a:t>
            </a:r>
            <a:r>
              <a:rPr lang="ko-KR" altLang="ko-KR" sz="700" dirty="0"/>
              <a:t>, "</a:t>
            </a:r>
            <a:r>
              <a:rPr lang="ko-KR" altLang="ko-KR" sz="700" dirty="0" err="1"/>
              <a:t>Convolutional</a:t>
            </a:r>
            <a:r>
              <a:rPr lang="ko-KR" altLang="ko-KR" sz="700" dirty="0"/>
              <a:t> </a:t>
            </a:r>
            <a:r>
              <a:rPr lang="ko-KR" altLang="ko-KR" sz="700" dirty="0" err="1"/>
              <a:t>neural</a:t>
            </a:r>
            <a:r>
              <a:rPr lang="ko-KR" altLang="ko-KR" sz="700" dirty="0"/>
              <a:t> </a:t>
            </a:r>
            <a:r>
              <a:rPr lang="ko-KR" altLang="ko-KR" sz="700" dirty="0" err="1"/>
              <a:t>network란</a:t>
            </a:r>
            <a:r>
              <a:rPr lang="ko-KR" altLang="ko-KR" sz="700" dirty="0"/>
              <a:t>? | 꼭 알아야 할 3가지 사항," </a:t>
            </a:r>
            <a:r>
              <a:rPr lang="ko-KR" altLang="ko-KR" sz="700" i="1" dirty="0" err="1"/>
              <a:t>MathWorks</a:t>
            </a:r>
            <a:r>
              <a:rPr lang="ko-KR" altLang="ko-KR" sz="700" dirty="0"/>
              <a:t>, 2026. [</a:t>
            </a:r>
            <a:r>
              <a:rPr lang="ko-KR" altLang="ko-KR" sz="700" dirty="0" err="1"/>
              <a:t>Online</a:t>
            </a:r>
            <a:r>
              <a:rPr lang="ko-KR" altLang="ko-KR" sz="700" dirty="0"/>
              <a:t>]. </a:t>
            </a:r>
            <a:r>
              <a:rPr lang="ko-KR" altLang="ko-KR" sz="700" dirty="0" err="1"/>
              <a:t>Available</a:t>
            </a:r>
            <a:r>
              <a:rPr lang="ko-KR" altLang="ko-KR" sz="700" dirty="0"/>
              <a:t>: </a:t>
            </a:r>
            <a:r>
              <a:rPr lang="ko-KR" altLang="ko-KR" sz="700" dirty="0">
                <a:hlinkClick r:id="rId4"/>
              </a:rPr>
              <a:t>https://kr.mathworks.com/discovery/convolutional-neural-network.html</a:t>
            </a:r>
            <a:r>
              <a:rPr lang="ko-KR" altLang="ko-KR" sz="700" dirty="0"/>
              <a:t>. (</a:t>
            </a:r>
            <a:r>
              <a:rPr lang="ko-KR" altLang="ko-KR" sz="700" dirty="0" err="1"/>
              <a:t>Accessed</a:t>
            </a:r>
            <a:r>
              <a:rPr lang="ko-KR" altLang="ko-KR" sz="700" dirty="0"/>
              <a:t>: </a:t>
            </a:r>
            <a:r>
              <a:rPr lang="ko-KR" altLang="ko-KR" sz="700" dirty="0" err="1"/>
              <a:t>Jul</a:t>
            </a:r>
            <a:r>
              <a:rPr lang="ko-KR" altLang="ko-KR" sz="700" dirty="0"/>
              <a:t>. 7, 2026).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477749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7C2AB-AE0C-75F2-B3FB-F26B94C6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그림 개체 틀 11">
                <a:extLst>
                  <a:ext uri="{FF2B5EF4-FFF2-40B4-BE49-F238E27FC236}">
                    <a16:creationId xmlns:a16="http://schemas.microsoft.com/office/drawing/2014/main" id="{4FCDC6A9-8890-F919-9298-42A7010C27B4}"/>
                  </a:ext>
                </a:extLst>
              </p:cNvPr>
              <p:cNvSpPr>
                <a:spLocks noGrp="1"/>
              </p:cNvSpPr>
              <p:nvPr>
                <p:ph type="pic" sz="quarter" idx="2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r>
                  <a:rPr lang="ko-KR" altLang="en-US" dirty="0"/>
                  <a:t>동일</a:t>
                </a:r>
                <a:r>
                  <a:rPr lang="en-US" altLang="ko-KR" dirty="0"/>
                  <a:t> layer</a:t>
                </a:r>
                <a:r>
                  <a:rPr lang="ko-KR" altLang="en-US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공유 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ko-KR" altLang="en-US" dirty="0"/>
                  <a:t>의 </a:t>
                </a:r>
                <a:r>
                  <a:rPr lang="en-US" altLang="ko-KR" dirty="0"/>
                  <a:t>activation function</a:t>
                </a:r>
                <a:r>
                  <a:rPr lang="ko-KR" altLang="en-US" dirty="0"/>
                  <a:t>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동일할 필요 없음</a:t>
                </a:r>
                <a:endParaRPr lang="en-US" altLang="ko-KR" dirty="0"/>
              </a:p>
              <a:p>
                <a:r>
                  <a:rPr lang="ko-KR" altLang="en-US" dirty="0"/>
                  <a:t>단점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Long-term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dependency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problem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병렬 처리 불가</a:t>
                </a:r>
                <a:endParaRPr lang="en-US" altLang="ko-KR" dirty="0"/>
              </a:p>
              <a:p>
                <a:r>
                  <a:rPr lang="ko-KR" altLang="en-US" dirty="0"/>
                  <a:t>개선 모델</a:t>
                </a:r>
                <a:r>
                  <a:rPr lang="en-US" altLang="ko-KR" dirty="0"/>
                  <a:t>: LSTM, transformer …</a:t>
                </a:r>
              </a:p>
              <a:p>
                <a:endParaRPr lang="en-US" altLang="ko-KR" dirty="0"/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12" name="그림 개체 틀 11">
                <a:extLst>
                  <a:ext uri="{FF2B5EF4-FFF2-40B4-BE49-F238E27FC236}">
                    <a16:creationId xmlns:a16="http://schemas.microsoft.com/office/drawing/2014/main" id="{4FCDC6A9-8890-F919-9298-42A7010C2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2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D3B75B78-29CE-6F73-BD96-D2156E75EA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계산한 확률에 따라 이진 값으로 샘플링</a:t>
            </a:r>
            <a:endParaRPr lang="en-US" altLang="ko-KR" dirty="0"/>
          </a:p>
          <a:p>
            <a:r>
              <a:rPr lang="ko-KR" altLang="en-US" dirty="0"/>
              <a:t>차원감소를 위해 사용</a:t>
            </a:r>
            <a:endParaRPr lang="en-US" altLang="ko-KR" dirty="0"/>
          </a:p>
          <a:p>
            <a:r>
              <a:rPr lang="ko-KR" altLang="en-US" dirty="0"/>
              <a:t>기울기 소멸 문제를 해결하기 위한 사전학습 용도로 활용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9750A9-8CA7-361A-5634-E2313EC8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3C2-55AA-4B0C-BFD3-207B0CEC0597}" type="slidenum">
              <a:rPr lang="ko-KR" altLang="en-US" smtClean="0"/>
              <a:pPr/>
              <a:t>10</a:t>
            </a:fld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F0AF80B-ECAB-B5B5-C1C3-ABB333636B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1673" y="2125543"/>
            <a:ext cx="615874" cy="320088"/>
          </a:xfrm>
        </p:spPr>
        <p:txBody>
          <a:bodyPr/>
          <a:lstStyle/>
          <a:p>
            <a:r>
              <a:rPr lang="en-US" altLang="ko-KR" dirty="0"/>
              <a:t>RNN</a:t>
            </a:r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DAD089F4-4022-755B-04E8-82452231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딥러닝 알고리즘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2F68B67-6049-23D1-1689-979874B556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01873" y="2125543"/>
            <a:ext cx="636713" cy="320088"/>
          </a:xfrm>
        </p:spPr>
        <p:txBody>
          <a:bodyPr/>
          <a:lstStyle/>
          <a:p>
            <a:r>
              <a:rPr lang="en-US" altLang="ko-KR" dirty="0"/>
              <a:t>RBM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AB9C2613-D101-887B-678A-ABB02E9391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딥러닝 알고리즘 종류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1CDB3F15-D101-9F6B-592A-4CB3046A28B1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en-US" altLang="ko-KR" dirty="0"/>
              <a:t>RNN(Recurrent Neural Network): </a:t>
            </a:r>
            <a:r>
              <a:rPr lang="ko-KR" altLang="en-US" dirty="0"/>
              <a:t>스스로를 참조하는</a:t>
            </a:r>
            <a:r>
              <a:rPr lang="en-US" altLang="ko-KR" dirty="0"/>
              <a:t> </a:t>
            </a:r>
            <a:r>
              <a:rPr lang="ko-KR" altLang="en-US" dirty="0"/>
              <a:t>것으로</a:t>
            </a:r>
            <a:r>
              <a:rPr lang="en-US" altLang="ko-KR" dirty="0"/>
              <a:t>,</a:t>
            </a:r>
            <a:r>
              <a:rPr lang="ko-KR" altLang="en-US" dirty="0"/>
              <a:t> 현재 결과와 이전 결과의 연관성을 고려하는 </a:t>
            </a:r>
            <a:r>
              <a:rPr lang="en-US" altLang="ko-KR" dirty="0"/>
              <a:t>neural network</a:t>
            </a:r>
          </a:p>
          <a:p>
            <a:r>
              <a:rPr lang="en-US" altLang="ko-KR" dirty="0"/>
              <a:t>RBM(Restricted Boltzmann Machine): Visible layer</a:t>
            </a:r>
            <a:r>
              <a:rPr lang="ko-KR" altLang="en-US" dirty="0"/>
              <a:t>와 </a:t>
            </a:r>
            <a:r>
              <a:rPr lang="en-US" altLang="ko-KR" dirty="0"/>
              <a:t>hidden layer </a:t>
            </a:r>
            <a:r>
              <a:rPr lang="ko-KR" altLang="en-US" dirty="0"/>
              <a:t>사이의 </a:t>
            </a:r>
            <a:r>
              <a:rPr lang="ko-KR" altLang="ko-KR" dirty="0"/>
              <a:t>연결만으로 데이터</a:t>
            </a:r>
            <a:r>
              <a:rPr lang="ko-KR" altLang="en-US" dirty="0"/>
              <a:t>의 분포를 학습</a:t>
            </a:r>
          </a:p>
        </p:txBody>
      </p:sp>
      <p:pic>
        <p:nvPicPr>
          <p:cNvPr id="2" name="그림 1" descr="08-01 순환 신경망(Recurrent Neural Network, RNN) - 딥 러닝을 이용한 자연어 처리 입문 - RAG,  에이전트, LLM 파인튜닝까지">
            <a:extLst>
              <a:ext uri="{FF2B5EF4-FFF2-40B4-BE49-F238E27FC236}">
                <a16:creationId xmlns:a16="http://schemas.microsoft.com/office/drawing/2014/main" id="{F2BACCB9-C3DB-8DAB-E1E2-35AF22AEC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816" y="2445631"/>
            <a:ext cx="3194138" cy="14776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4AB274-2057-3241-0D2E-BC9F1AC3D43B}"/>
                  </a:ext>
                </a:extLst>
              </p:cNvPr>
              <p:cNvSpPr txBox="1"/>
              <p:nvPr/>
            </p:nvSpPr>
            <p:spPr>
              <a:xfrm>
                <a:off x="3370580" y="2897005"/>
                <a:ext cx="30734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4AB274-2057-3241-0D2E-BC9F1AC3D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580" y="2897005"/>
                <a:ext cx="30734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0A771B-690D-A9CC-A0AF-10E095FC42B7}"/>
                  </a:ext>
                </a:extLst>
              </p:cNvPr>
              <p:cNvSpPr txBox="1"/>
              <p:nvPr/>
            </p:nvSpPr>
            <p:spPr>
              <a:xfrm>
                <a:off x="3894345" y="2897005"/>
                <a:ext cx="30734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0A771B-690D-A9CC-A0AF-10E095FC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345" y="2897005"/>
                <a:ext cx="30734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0CDBEFBF-5AD4-1ADA-8446-494FC0805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63" y="2481191"/>
            <a:ext cx="5048444" cy="17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4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874B87E1-6FD2-39E2-57B4-498B03E2A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BDEB6E3-04FA-FC73-DC44-C4091A0B1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0"/>
            <a:ext cx="9784080" cy="6858000"/>
          </a:xfrm>
          <a:prstGeom prst="rect">
            <a:avLst/>
          </a:prstGeom>
        </p:spPr>
      </p:pic>
      <p:sp>
        <p:nvSpPr>
          <p:cNvPr id="3" name="Google Shape;32;p1">
            <a:extLst>
              <a:ext uri="{FF2B5EF4-FFF2-40B4-BE49-F238E27FC236}">
                <a16:creationId xmlns:a16="http://schemas.microsoft.com/office/drawing/2014/main" id="{7F6C0221-18FB-92D2-773A-271ABD27755E}"/>
              </a:ext>
            </a:extLst>
          </p:cNvPr>
          <p:cNvSpPr/>
          <p:nvPr/>
        </p:nvSpPr>
        <p:spPr>
          <a:xfrm>
            <a:off x="-1" y="0"/>
            <a:ext cx="3945809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rgbClr val="000000"/>
              </a:gs>
            </a:gsLst>
            <a:lin ang="0" scaled="1"/>
          </a:gra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24" name="Google Shape;36;p1">
            <a:extLst>
              <a:ext uri="{FF2B5EF4-FFF2-40B4-BE49-F238E27FC236}">
                <a16:creationId xmlns:a16="http://schemas.microsoft.com/office/drawing/2014/main" id="{9CB231C9-641C-0D5B-F3C1-E305E59CF3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9836" y="5432537"/>
            <a:ext cx="3322300" cy="5669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A7B8F73-676A-CDF7-E789-569527668ECA}"/>
              </a:ext>
            </a:extLst>
          </p:cNvPr>
          <p:cNvCxnSpPr>
            <a:cxnSpLocks/>
          </p:cNvCxnSpPr>
          <p:nvPr/>
        </p:nvCxnSpPr>
        <p:spPr>
          <a:xfrm>
            <a:off x="936653" y="1683887"/>
            <a:ext cx="4402206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57CFEFF-EC4E-F891-CDE8-FFF9FD8714C2}"/>
              </a:ext>
            </a:extLst>
          </p:cNvPr>
          <p:cNvCxnSpPr>
            <a:cxnSpLocks/>
          </p:cNvCxnSpPr>
          <p:nvPr/>
        </p:nvCxnSpPr>
        <p:spPr>
          <a:xfrm>
            <a:off x="208088" y="2815457"/>
            <a:ext cx="5859337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5020D60-DD82-F2BA-B36E-411D0129FF17}"/>
              </a:ext>
            </a:extLst>
          </p:cNvPr>
          <p:cNvSpPr txBox="1"/>
          <p:nvPr/>
        </p:nvSpPr>
        <p:spPr>
          <a:xfrm>
            <a:off x="208088" y="1744207"/>
            <a:ext cx="5859337" cy="87440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0" i="0" u="none" strike="noStrike" kern="1200" cap="none" spc="-7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Any Questions?</a:t>
            </a:r>
            <a:endParaRPr kumimoji="0" lang="ko-KR" altLang="en-US" sz="5400" b="0" i="0" u="none" strike="noStrike" kern="1200" cap="none" spc="-7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5ED36F3-3124-DB5E-D320-F26ED9A3B861}"/>
              </a:ext>
            </a:extLst>
          </p:cNvPr>
          <p:cNvGrpSpPr/>
          <p:nvPr/>
        </p:nvGrpSpPr>
        <p:grpSpPr>
          <a:xfrm>
            <a:off x="380651" y="4174652"/>
            <a:ext cx="5470110" cy="1909951"/>
            <a:chOff x="5753961" y="3755552"/>
            <a:chExt cx="5470110" cy="1909951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4F92577-9B98-630D-9E4F-0F5F2AF049F5}"/>
                </a:ext>
              </a:extLst>
            </p:cNvPr>
            <p:cNvGrpSpPr/>
            <p:nvPr/>
          </p:nvGrpSpPr>
          <p:grpSpPr>
            <a:xfrm>
              <a:off x="5753961" y="3806905"/>
              <a:ext cx="2605639" cy="952683"/>
              <a:chOff x="5616131" y="3497805"/>
              <a:chExt cx="2605639" cy="952683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848655-9336-F15D-0E23-A3BF934C25D3}"/>
                  </a:ext>
                </a:extLst>
              </p:cNvPr>
              <p:cNvSpPr txBox="1"/>
              <p:nvPr/>
            </p:nvSpPr>
            <p:spPr>
              <a:xfrm>
                <a:off x="5616131" y="3497805"/>
                <a:ext cx="33342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10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_Pro Bold" panose="00000800000000000000" pitchFamily="50" charset="-127"/>
                    <a:ea typeface="KoPub돋움체_Pro Bold" panose="00000800000000000000" pitchFamily="50" charset="-127"/>
                  </a:rPr>
                  <a:t>이름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7AF67D-955B-4EB6-A540-0557920A5C70}"/>
                  </a:ext>
                </a:extLst>
              </p:cNvPr>
              <p:cNvSpPr txBox="1"/>
              <p:nvPr/>
            </p:nvSpPr>
            <p:spPr>
              <a:xfrm>
                <a:off x="6359081" y="3497805"/>
                <a:ext cx="43601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600" kern="1200" spc="-10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_Pro Bold" panose="00000800000000000000" pitchFamily="50" charset="-127"/>
                    <a:ea typeface="KoPub돋움체_Pro Bold" panose="00000800000000000000" pitchFamily="50" charset="-127"/>
                  </a:rPr>
                  <a:t>익명</a:t>
                </a:r>
                <a:r>
                  <a:rPr lang="en-US" altLang="ko-KR" sz="1600" kern="1200" spc="-10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_Pro Bold" panose="00000800000000000000" pitchFamily="50" charset="-127"/>
                    <a:ea typeface="KoPub돋움체_Pro Bold" panose="00000800000000000000" pitchFamily="50" charset="-127"/>
                  </a:rPr>
                  <a:t>3</a:t>
                </a:r>
                <a:endParaRPr kumimoji="0" lang="ko-KR" altLang="en-US" sz="1600" b="0" i="0" u="none" strike="noStrike" kern="1200" cap="none" spc="-10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_Pro Bold" panose="00000800000000000000" pitchFamily="50" charset="-127"/>
                  <a:ea typeface="KoPub돋움체_Pro Bold" panose="00000800000000000000" pitchFamily="50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A875B2A-5F87-2D24-67B0-94ADEAADC6D4}"/>
                  </a:ext>
                </a:extLst>
              </p:cNvPr>
              <p:cNvSpPr txBox="1"/>
              <p:nvPr/>
            </p:nvSpPr>
            <p:spPr>
              <a:xfrm>
                <a:off x="5616131" y="3851036"/>
                <a:ext cx="33342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10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_Pro Bold" panose="00000800000000000000" pitchFamily="50" charset="-127"/>
                    <a:ea typeface="KoPub돋움체_Pro Bold" panose="00000800000000000000" pitchFamily="50" charset="-127"/>
                  </a:rPr>
                  <a:t>소속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53045E1-4411-25F2-9008-F8C29C80D492}"/>
                  </a:ext>
                </a:extLst>
              </p:cNvPr>
              <p:cNvSpPr txBox="1"/>
              <p:nvPr/>
            </p:nvSpPr>
            <p:spPr>
              <a:xfrm>
                <a:off x="6359081" y="3851036"/>
                <a:ext cx="171361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10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_Pro Bold" panose="00000800000000000000" pitchFamily="50" charset="-127"/>
                    <a:ea typeface="KoPub돋움체_Pro Bold" panose="00000800000000000000" pitchFamily="50" charset="-127"/>
                  </a:rPr>
                  <a:t>한양대학교 기계공학과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F86417-C462-9D4E-B5D8-25114F9F01C8}"/>
                  </a:ext>
                </a:extLst>
              </p:cNvPr>
              <p:cNvSpPr txBox="1"/>
              <p:nvPr/>
            </p:nvSpPr>
            <p:spPr>
              <a:xfrm>
                <a:off x="5616131" y="4204267"/>
                <a:ext cx="50013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10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_Pro Bold" panose="00000800000000000000" pitchFamily="50" charset="-127"/>
                    <a:ea typeface="KoPub돋움체_Pro Bold" panose="00000800000000000000" pitchFamily="50" charset="-127"/>
                  </a:rPr>
                  <a:t>이메일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22B3680-A405-7993-6FDC-385EA21E62F8}"/>
                  </a:ext>
                </a:extLst>
              </p:cNvPr>
              <p:cNvSpPr txBox="1"/>
              <p:nvPr/>
            </p:nvSpPr>
            <p:spPr>
              <a:xfrm>
                <a:off x="6359081" y="4204267"/>
                <a:ext cx="186268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600" kern="1200" spc="-100" dirty="0" err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_Pro Bold" panose="00000800000000000000" pitchFamily="50" charset="-127"/>
                    <a:ea typeface="KoPub돋움체_Pro Bold" panose="00000800000000000000" pitchFamily="50" charset="-127"/>
                  </a:rPr>
                  <a:t>mindat</a:t>
                </a:r>
                <a:r>
                  <a:rPr kumimoji="0" lang="en-US" altLang="ko-KR" sz="1600" b="0" i="0" u="none" strike="noStrike" kern="1200" cap="none" spc="-10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_Pro Bold" panose="00000800000000000000" pitchFamily="50" charset="-127"/>
                    <a:ea typeface="KoPub돋움체_Pro Bold" panose="00000800000000000000" pitchFamily="50" charset="-127"/>
                  </a:rPr>
                  <a:t>@hanyang.ac.kr</a:t>
                </a:r>
                <a:endParaRPr kumimoji="0" lang="ko-KR" altLang="en-US" sz="1600" b="0" i="0" u="none" strike="noStrike" kern="1200" cap="none" spc="-10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_Pro Bold" panose="00000800000000000000" pitchFamily="50" charset="-127"/>
                  <a:ea typeface="KoPub돋움체_Pro Bold" panose="00000800000000000000" pitchFamily="50" charset="-127"/>
                </a:endParaRPr>
              </a:p>
            </p:txBody>
          </p:sp>
        </p:grp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824C7FF-E32C-18F0-F51D-C35461D26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4120" y="3755552"/>
              <a:ext cx="1909951" cy="19099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2606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idea lab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DC143C"/>
      </a:accent1>
      <a:accent2>
        <a:srgbClr val="228B22"/>
      </a:accent2>
      <a:accent3>
        <a:srgbClr val="00008B"/>
      </a:accent3>
      <a:accent4>
        <a:srgbClr val="FFFFFF"/>
      </a:accent4>
      <a:accent5>
        <a:srgbClr val="FFFFFF"/>
      </a:accent5>
      <a:accent6>
        <a:srgbClr val="FFFFFF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1002</Words>
  <Application>Microsoft Office PowerPoint</Application>
  <PresentationFormat>와이드스크린</PresentationFormat>
  <Paragraphs>257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5" baseType="lpstr">
      <vt:lpstr>나눔스퀘어 네오 Regular</vt:lpstr>
      <vt:lpstr>Arial</vt:lpstr>
      <vt:lpstr>Cambria Math</vt:lpstr>
      <vt:lpstr>KoPubWorld돋움체 Bold</vt:lpstr>
      <vt:lpstr>KoPubWorld돋움체 Light</vt:lpstr>
      <vt:lpstr>KoPubWorld돋움체 Medium</vt:lpstr>
      <vt:lpstr>KoPub돋움체_Pro Bold</vt:lpstr>
      <vt:lpstr>Segoe UI Symbol</vt:lpstr>
      <vt:lpstr>Times New Roman</vt:lpstr>
      <vt:lpstr>Wingdings</vt:lpstr>
      <vt:lpstr>맑은 고딕</vt:lpstr>
      <vt:lpstr>맑은 고딕</vt:lpstr>
      <vt:lpstr>Office 테마</vt:lpstr>
      <vt:lpstr>1_Office 테마</vt:lpstr>
      <vt:lpstr>PowerPoint 프레젠테이션</vt:lpstr>
      <vt:lpstr>딥러닝의 출현</vt:lpstr>
      <vt:lpstr>딥러닝 구조</vt:lpstr>
      <vt:lpstr>딥러닝 구조</vt:lpstr>
      <vt:lpstr>딥러닝 구조</vt:lpstr>
      <vt:lpstr>딥러닝 학습과정</vt:lpstr>
      <vt:lpstr>딥러닝 문제점 및 해결방안</vt:lpstr>
      <vt:lpstr>경사하강법</vt:lpstr>
      <vt:lpstr>딥러닝 알고리즘</vt:lpstr>
      <vt:lpstr>딥러닝 알고리즘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Woong</dc:creator>
  <cp:lastModifiedBy>Woong</cp:lastModifiedBy>
  <cp:revision>60</cp:revision>
  <dcterms:created xsi:type="dcterms:W3CDTF">2026-02-26T09:17:53Z</dcterms:created>
  <dcterms:modified xsi:type="dcterms:W3CDTF">2026-07-10T00:50:33Z</dcterms:modified>
  <cp:version/>
</cp:coreProperties>
</file>